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2.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5" d="100"/>
          <a:sy n="85" d="100"/>
        </p:scale>
        <p:origin x="176" y="3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2C5F2D"/>
                </a:solidFill>
                <a:latin typeface="Arial"/>
              </a:defRPr>
            </a:pPr>
            <a:r>
              <a:rPr lang="en-US" sz="1100" b="0" i="0" u="none" strike="noStrike">
                <a:solidFill>
                  <a:srgbClr val="2C5F2D"/>
                </a:solidFill>
                <a:latin typeface="Arial"/>
              </a:rPr>
              <a:t>penalty is flat, then convex</a:t>
            </a:r>
          </a:p>
        </c:rich>
      </c:tx>
      <c:overlay val="0"/>
    </c:title>
    <c:autoTitleDeleted val="0"/>
    <c:plotArea>
      <c:layout/>
      <c:lineChart>
        <c:grouping val="standard"/>
        <c:varyColors val="0"/>
        <c:ser>
          <c:idx val="0"/>
          <c:order val="0"/>
          <c:tx>
            <c:strRef>
              <c:f>Sheet1!$B$1</c:f>
              <c:strCache>
                <c:ptCount val="1"/>
                <c:pt idx="0">
                  <c:v>food-security penalty</c:v>
                </c:pt>
              </c:strCache>
            </c:strRef>
          </c:tx>
          <c:spPr>
            <a:ln w="38100" cap="flat">
              <a:solidFill>
                <a:srgbClr val="E0871E"/>
              </a:solidFill>
              <a:prstDash val="solid"/>
              <a:round/>
            </a:ln>
            <a:effectLst/>
          </c:spPr>
          <c:marker>
            <c:symbol val="circle"/>
            <c:size val="6"/>
            <c:spPr>
              <a:solidFill>
                <a:srgbClr val="E0871E"/>
              </a:solidFill>
              <a:ln w="9525" cap="flat">
                <a:solidFill>
                  <a:srgbClr val="E0871E"/>
                </a:solidFill>
                <a:prstDash val="solid"/>
                <a:round/>
              </a:ln>
              <a:effectLst/>
            </c:spPr>
          </c:marker>
          <c:cat>
            <c:strRef>
              <c:f>Sheet1!$A$2:$A$20</c:f>
              <c:strCache>
                <c:ptCount val="19"/>
                <c:pt idx="0">
                  <c:v>180</c:v>
                </c:pt>
                <c:pt idx="1">
                  <c:v>190</c:v>
                </c:pt>
                <c:pt idx="2">
                  <c:v>200</c:v>
                </c:pt>
                <c:pt idx="3">
                  <c:v>210</c:v>
                </c:pt>
                <c:pt idx="4">
                  <c:v>220</c:v>
                </c:pt>
                <c:pt idx="5">
                  <c:v>230</c:v>
                </c:pt>
                <c:pt idx="6">
                  <c:v>240</c:v>
                </c:pt>
                <c:pt idx="7">
                  <c:v>250</c:v>
                </c:pt>
                <c:pt idx="8">
                  <c:v>260</c:v>
                </c:pt>
                <c:pt idx="9">
                  <c:v>270</c:v>
                </c:pt>
                <c:pt idx="10">
                  <c:v>280</c:v>
                </c:pt>
                <c:pt idx="11">
                  <c:v>290</c:v>
                </c:pt>
                <c:pt idx="12">
                  <c:v>300</c:v>
                </c:pt>
                <c:pt idx="13">
                  <c:v>310</c:v>
                </c:pt>
                <c:pt idx="14">
                  <c:v>320</c:v>
                </c:pt>
                <c:pt idx="15">
                  <c:v>330</c:v>
                </c:pt>
                <c:pt idx="16">
                  <c:v>340</c:v>
                </c:pt>
                <c:pt idx="17">
                  <c:v>350</c:v>
                </c:pt>
                <c:pt idx="18">
                  <c:v>360</c:v>
                </c:pt>
              </c:strCache>
            </c:strRef>
          </c:cat>
          <c:val>
            <c:numRef>
              <c:f>Sheet1!$B$2:$B$20</c:f>
              <c:numCache>
                <c:formatCode>General</c:formatCode>
                <c:ptCount val="19"/>
                <c:pt idx="0">
                  <c:v>0</c:v>
                </c:pt>
                <c:pt idx="1">
                  <c:v>0</c:v>
                </c:pt>
                <c:pt idx="2">
                  <c:v>0</c:v>
                </c:pt>
                <c:pt idx="3">
                  <c:v>0</c:v>
                </c:pt>
                <c:pt idx="4">
                  <c:v>0</c:v>
                </c:pt>
                <c:pt idx="5">
                  <c:v>0</c:v>
                </c:pt>
                <c:pt idx="6">
                  <c:v>0</c:v>
                </c:pt>
                <c:pt idx="7">
                  <c:v>0</c:v>
                </c:pt>
                <c:pt idx="8">
                  <c:v>0</c:v>
                </c:pt>
                <c:pt idx="9">
                  <c:v>2</c:v>
                </c:pt>
                <c:pt idx="10">
                  <c:v>8</c:v>
                </c:pt>
                <c:pt idx="11">
                  <c:v>18</c:v>
                </c:pt>
                <c:pt idx="12">
                  <c:v>32</c:v>
                </c:pt>
                <c:pt idx="13">
                  <c:v>50</c:v>
                </c:pt>
                <c:pt idx="14">
                  <c:v>72</c:v>
                </c:pt>
                <c:pt idx="15">
                  <c:v>98.000000000000014</c:v>
                </c:pt>
                <c:pt idx="16">
                  <c:v>128</c:v>
                </c:pt>
                <c:pt idx="17">
                  <c:v>162</c:v>
                </c:pt>
                <c:pt idx="18">
                  <c:v>200</c:v>
                </c:pt>
              </c:numCache>
            </c:numRef>
          </c:val>
          <c:smooth val="0"/>
          <c:extLst>
            <c:ext xmlns:c16="http://schemas.microsoft.com/office/drawing/2014/chart" uri="{C3380CC4-5D6E-409C-BE32-E72D297353CC}">
              <c16:uniqueId val="{00000000-D4F5-C94F-A495-C34333716FD3}"/>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900" b="0" i="0" u="none" strike="noStrike">
                    <a:solidFill>
                      <a:srgbClr val="5B6B57"/>
                    </a:solidFill>
                    <a:latin typeface="Arial"/>
                  </a:defRPr>
                </a:pPr>
                <a:r>
                  <a:rPr lang="en-US" sz="900" b="0" i="0" u="none" strike="noStrike">
                    <a:solidFill>
                      <a:srgbClr val="5B6B57"/>
                    </a:solidFill>
                    <a:latin typeface="Arial"/>
                  </a:rPr>
                  <a:t>domestic price</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5B6B57"/>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DFE5D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B6B57"/>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F7F5EF"/>
                </a:solidFill>
                <a:latin typeface="Arial"/>
              </a:defRPr>
            </a:pPr>
            <a:r>
              <a:rPr lang="en-US" sz="1200" b="0" i="0" u="none" strike="noStrike">
                <a:solidFill>
                  <a:srgbClr val="F7F5EF"/>
                </a:solidFill>
                <a:latin typeface="Arial"/>
              </a:rPr>
              <a:t>shock-induced price change ($/t)</a:t>
            </a:r>
          </a:p>
        </c:rich>
      </c:tx>
      <c:overlay val="0"/>
    </c:title>
    <c:autoTitleDeleted val="0"/>
    <c:plotArea>
      <c:layout/>
      <c:barChart>
        <c:barDir val="col"/>
        <c:grouping val="clustered"/>
        <c:varyColors val="0"/>
        <c:ser>
          <c:idx val="0"/>
          <c:order val="0"/>
          <c:tx>
            <c:strRef>
              <c:f>Sheet1!$B$1</c:f>
              <c:strCache>
                <c:ptCount val="1"/>
                <c:pt idx="0">
                  <c:v>with substitution</c:v>
                </c:pt>
              </c:strCache>
            </c:strRef>
          </c:tx>
          <c:spPr>
            <a:solidFill>
              <a:srgbClr val="D8A72A"/>
            </a:solidFill>
            <a:effectLst/>
          </c:spPr>
          <c:invertIfNegative val="0"/>
          <c:dLbls>
            <c:numFmt formatCode="#,##0" sourceLinked="0"/>
            <c:spPr>
              <a:noFill/>
              <a:ln>
                <a:noFill/>
              </a:ln>
              <a:effectLst/>
            </c:spPr>
            <c:txPr>
              <a:bodyPr/>
              <a:lstStyle/>
              <a:p>
                <a:pPr>
                  <a:defRPr sz="1000" b="0" i="0" u="none" strike="noStrike">
                    <a:solidFill>
                      <a:srgbClr val="F7F5E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wheat</c:v>
                </c:pt>
                <c:pt idx="1">
                  <c:v>rice</c:v>
                </c:pt>
                <c:pt idx="2">
                  <c:v>maize</c:v>
                </c:pt>
              </c:strCache>
            </c:strRef>
          </c:cat>
          <c:val>
            <c:numRef>
              <c:f>Sheet1!$B$2:$B$4</c:f>
              <c:numCache>
                <c:formatCode>General</c:formatCode>
                <c:ptCount val="3"/>
                <c:pt idx="0">
                  <c:v>72</c:v>
                </c:pt>
                <c:pt idx="1">
                  <c:v>19</c:v>
                </c:pt>
                <c:pt idx="2">
                  <c:v>10</c:v>
                </c:pt>
              </c:numCache>
            </c:numRef>
          </c:val>
          <c:extLst>
            <c:ext xmlns:c16="http://schemas.microsoft.com/office/drawing/2014/chart" uri="{C3380CC4-5D6E-409C-BE32-E72D297353CC}">
              <c16:uniqueId val="{00000000-2225-2C48-A2F8-F5970ADCF3B4}"/>
            </c:ext>
          </c:extLst>
        </c:ser>
        <c:ser>
          <c:idx val="1"/>
          <c:order val="1"/>
          <c:tx>
            <c:strRef>
              <c:f>Sheet1!$C$1</c:f>
              <c:strCache>
                <c:ptCount val="1"/>
                <c:pt idx="0">
                  <c:v>no substitution</c:v>
                </c:pt>
              </c:strCache>
            </c:strRef>
          </c:tx>
          <c:spPr>
            <a:solidFill>
              <a:srgbClr val="97BC62"/>
            </a:solidFill>
            <a:effectLst/>
          </c:spPr>
          <c:invertIfNegative val="0"/>
          <c:dLbls>
            <c:numFmt formatCode="#,##0" sourceLinked="0"/>
            <c:spPr>
              <a:noFill/>
              <a:ln>
                <a:noFill/>
              </a:ln>
              <a:effectLst/>
            </c:spPr>
            <c:txPr>
              <a:bodyPr/>
              <a:lstStyle/>
              <a:p>
                <a:pPr>
                  <a:defRPr sz="1000" b="0" i="0" u="none" strike="noStrike">
                    <a:solidFill>
                      <a:srgbClr val="F7F5E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wheat</c:v>
                </c:pt>
                <c:pt idx="1">
                  <c:v>rice</c:v>
                </c:pt>
                <c:pt idx="2">
                  <c:v>maize</c:v>
                </c:pt>
              </c:strCache>
            </c:strRef>
          </c:cat>
          <c:val>
            <c:numRef>
              <c:f>Sheet1!$C$2:$C$4</c:f>
              <c:numCache>
                <c:formatCode>General</c:formatCode>
                <c:ptCount val="3"/>
                <c:pt idx="0">
                  <c:v>66</c:v>
                </c:pt>
                <c:pt idx="1">
                  <c:v>0</c:v>
                </c:pt>
                <c:pt idx="2">
                  <c:v>0</c:v>
                </c:pt>
              </c:numCache>
            </c:numRef>
          </c:val>
          <c:extLst>
            <c:ext xmlns:c16="http://schemas.microsoft.com/office/drawing/2014/chart" uri="{C3380CC4-5D6E-409C-BE32-E72D297353CC}">
              <c16:uniqueId val="{00000001-2225-2C48-A2F8-F5970ADCF3B4}"/>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F7F5EF"/>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3A5A3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97BC62"/>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F7F5EF"/>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4849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SHEAF: a country-level, multi-commodity, game-theoretic model of grain-trade fragility. This deck walks through each component so it can be vetted piece by piece.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Motivation: the three gaps SHEAF fills — cascade dynamics, cross-commodity substitution, and endogenous restriction decisions.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picture before the details: market + strategic + storage. Grains couple via substitution; countries via the network.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roles. States are the strategic players because the instrument (export bans) is sovereign; firms are the competitive market layer.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Demand: D=a−Mp with symmetric PD M. a is the demand intercept (choke consumption). Cross terms carry substitution; sigma scales 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 layer QP with per-grain balance and route cost K = transport·freight·chokepoint + export tax + tariff. KKT gives spatial arbitrage.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stock types: competitive arbitrage storage and government buffer stocks. Both adjust availability before clearing.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Welfare = consumer surplus + producer income − food-security penalty (+ optional terms-of-trade). Convex one-sided penalty gives the open-in-calm / restrict-in-spike regime switch.</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Per-period sequence. Stress gate keeps calm periods cheap. Shocks and chokepoints enter as multipliers.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proposition and the demo result: with substitution off, rice/maize deviation is exactly 0 (walled off); with it on, +19 and +10. That gap is the contribution.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Two-level validation. Level 1 = reproduce with restrictions imposed (like Agrimate). Level 2 = predict the bans endogenously — the unique test. Data: USDA for production/reserves, FAOSTAT for the network.</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Positioning vs TWIST and Agrimate. The two columns that are SHEAF-only: substitution and endogenous restrictions.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Caveats stated up front: prototype numbers, annual resolution, approximate Nash, idealised firms.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Repo has the full math, references, and the validation protocol.</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chart" Target="../charts/chart1.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22"/>
        </a:solidFill>
        <a:effectLst/>
      </p:bgPr>
    </p:bg>
    <p:spTree>
      <p:nvGrpSpPr>
        <p:cNvPr id="1" name=""/>
        <p:cNvGrpSpPr/>
        <p:nvPr/>
      </p:nvGrpSpPr>
      <p:grpSpPr>
        <a:xfrm>
          <a:off x="0" y="0"/>
          <a:ext cx="0" cy="0"/>
          <a:chOff x="0" y="0"/>
          <a:chExt cx="0" cy="0"/>
        </a:xfrm>
      </p:grpSpPr>
      <p:sp>
        <p:nvSpPr>
          <p:cNvPr id="4" name="Shape 2"/>
          <p:cNvSpPr/>
          <p:nvPr/>
        </p:nvSpPr>
        <p:spPr>
          <a:xfrm>
            <a:off x="685800" y="1234440"/>
            <a:ext cx="3200400" cy="3200400"/>
          </a:xfrm>
          <a:prstGeom prst="roundRect">
            <a:avLst>
              <a:gd name="adj" fmla="val 5143"/>
            </a:avLst>
          </a:prstGeom>
          <a:solidFill>
            <a:srgbClr val="FFFFFF"/>
          </a:solidFill>
          <a:ln/>
        </p:spPr>
      </p:sp>
      <p:sp>
        <p:nvSpPr>
          <p:cNvPr id="6" name="Text 3"/>
          <p:cNvSpPr/>
          <p:nvPr/>
        </p:nvSpPr>
        <p:spPr>
          <a:xfrm>
            <a:off x="4023360" y="1600200"/>
            <a:ext cx="7498080" cy="1097280"/>
          </a:xfrm>
          <a:prstGeom prst="rect">
            <a:avLst/>
          </a:prstGeom>
          <a:noFill/>
          <a:ln/>
        </p:spPr>
        <p:txBody>
          <a:bodyPr wrap="square" lIns="0" tIns="0" rIns="0" bIns="0" rtlCol="0" anchor="t"/>
          <a:lstStyle/>
          <a:p>
            <a:pPr marL="0" indent="0" algn="l">
              <a:buNone/>
            </a:pPr>
            <a:r>
              <a:rPr lang="en-US" sz="6600" b="1" dirty="0">
                <a:solidFill>
                  <a:srgbClr val="F7F5EF"/>
                </a:solidFill>
                <a:latin typeface="Cambria" pitchFamily="34" charset="0"/>
                <a:ea typeface="Cambria" pitchFamily="34" charset="-122"/>
                <a:cs typeface="Cambria" pitchFamily="34" charset="-120"/>
              </a:rPr>
              <a:t>SHEAF Model</a:t>
            </a:r>
            <a:endParaRPr lang="en-US" sz="6600" dirty="0"/>
          </a:p>
        </p:txBody>
      </p:sp>
      <p:sp>
        <p:nvSpPr>
          <p:cNvPr id="7" name="Text 4"/>
          <p:cNvSpPr/>
          <p:nvPr/>
        </p:nvSpPr>
        <p:spPr>
          <a:xfrm>
            <a:off x="4069080" y="2743200"/>
            <a:ext cx="7680960" cy="457200"/>
          </a:xfrm>
          <a:prstGeom prst="rect">
            <a:avLst/>
          </a:prstGeom>
          <a:noFill/>
          <a:ln/>
        </p:spPr>
        <p:txBody>
          <a:bodyPr wrap="square" lIns="0" tIns="0" rIns="0" bIns="0" rtlCol="0" anchor="t"/>
          <a:lstStyle/>
          <a:p>
            <a:pPr marL="0" indent="0" algn="l">
              <a:buNone/>
            </a:pPr>
            <a:r>
              <a:rPr lang="en-US" sz="2000" dirty="0">
                <a:solidFill>
                  <a:srgbClr val="97BC62"/>
                </a:solidFill>
                <a:latin typeface="Cambria" pitchFamily="34" charset="0"/>
                <a:ea typeface="Cambria" pitchFamily="34" charset="-122"/>
                <a:cs typeface="Cambria" pitchFamily="34" charset="-120"/>
              </a:rPr>
              <a:t>Substitution · Heterogeneous agents · Equilibrium · And Fragility</a:t>
            </a:r>
            <a:endParaRPr lang="en-US" sz="2000" dirty="0"/>
          </a:p>
        </p:txBody>
      </p:sp>
      <p:sp>
        <p:nvSpPr>
          <p:cNvPr id="8" name="Text 5"/>
          <p:cNvSpPr/>
          <p:nvPr/>
        </p:nvSpPr>
        <p:spPr>
          <a:xfrm>
            <a:off x="4069080" y="3383280"/>
            <a:ext cx="7589520" cy="640080"/>
          </a:xfrm>
          <a:prstGeom prst="rect">
            <a:avLst/>
          </a:prstGeom>
          <a:noFill/>
          <a:ln/>
        </p:spPr>
        <p:txBody>
          <a:bodyPr wrap="square" lIns="0" tIns="0" rIns="0" bIns="0" rtlCol="0" anchor="t"/>
          <a:lstStyle/>
          <a:p>
            <a:pPr marL="0" indent="0" algn="l">
              <a:lnSpc>
                <a:spcPts val="2200"/>
              </a:lnSpc>
              <a:buNone/>
            </a:pPr>
            <a:r>
              <a:rPr lang="en-US" dirty="0">
                <a:solidFill>
                  <a:srgbClr val="F7F5EF"/>
                </a:solidFill>
                <a:latin typeface="Calibri" pitchFamily="34" charset="0"/>
                <a:ea typeface="Calibri" pitchFamily="34" charset="-122"/>
                <a:cs typeface="Calibri" pitchFamily="34" charset="-120"/>
              </a:rPr>
              <a:t>A multi-commodity, game-theoretic network model of global grain-trade fragility</a:t>
            </a:r>
            <a:endParaRPr lang="en-US" dirty="0"/>
          </a:p>
        </p:txBody>
      </p:sp>
      <p:sp>
        <p:nvSpPr>
          <p:cNvPr id="9" name="Text 6"/>
          <p:cNvSpPr/>
          <p:nvPr/>
        </p:nvSpPr>
        <p:spPr>
          <a:xfrm>
            <a:off x="4069080" y="5120640"/>
            <a:ext cx="7589520" cy="457200"/>
          </a:xfrm>
          <a:prstGeom prst="rect">
            <a:avLst/>
          </a:prstGeom>
          <a:noFill/>
          <a:ln/>
        </p:spPr>
        <p:txBody>
          <a:bodyPr wrap="square" lIns="0" tIns="0" rIns="0" bIns="0" rtlCol="0" anchor="t"/>
          <a:lstStyle/>
          <a:p>
            <a:pPr marL="0" indent="0" algn="l">
              <a:buNone/>
            </a:pPr>
            <a:r>
              <a:rPr lang="en-US" sz="1600" i="1" dirty="0">
                <a:solidFill>
                  <a:srgbClr val="97BC62"/>
                </a:solidFill>
                <a:latin typeface="Calibri" pitchFamily="34" charset="0"/>
                <a:ea typeface="Calibri" pitchFamily="34" charset="-122"/>
                <a:cs typeface="Calibri" pitchFamily="34" charset="-120"/>
              </a:rPr>
              <a:t>Step-by-step walkthrough of the model</a:t>
            </a:r>
            <a:endParaRPr lang="en-US" sz="1600" dirty="0"/>
          </a:p>
        </p:txBody>
      </p:sp>
      <p:sp>
        <p:nvSpPr>
          <p:cNvPr id="10" name="Text 7"/>
          <p:cNvSpPr/>
          <p:nvPr/>
        </p:nvSpPr>
        <p:spPr>
          <a:xfrm>
            <a:off x="822960" y="6126480"/>
            <a:ext cx="10058400" cy="457200"/>
          </a:xfrm>
          <a:prstGeom prst="rect">
            <a:avLst/>
          </a:prstGeom>
          <a:noFill/>
          <a:ln/>
        </p:spPr>
        <p:txBody>
          <a:bodyPr wrap="square" lIns="0" tIns="0" rIns="0" bIns="0" rtlCol="0" anchor="t"/>
          <a:lstStyle/>
          <a:p>
            <a:pPr marL="0" indent="0" algn="l">
              <a:buNone/>
            </a:pPr>
            <a:r>
              <a:rPr lang="en-US" sz="1400" dirty="0">
                <a:solidFill>
                  <a:srgbClr val="97BC62"/>
                </a:solidFill>
                <a:latin typeface="Calibri" pitchFamily="34" charset="0"/>
                <a:ea typeface="Calibri" pitchFamily="34" charset="-122"/>
                <a:cs typeface="Calibri" pitchFamily="34" charset="-120"/>
              </a:rPr>
              <a:t>Michael J. Puma  ·  Columbia Climate School  ·  github.com/mjpuma/sheaf-model</a:t>
            </a:r>
            <a:endParaRPr lang="en-US" sz="1400" dirty="0"/>
          </a:p>
        </p:txBody>
      </p:sp>
      <p:pic>
        <p:nvPicPr>
          <p:cNvPr id="12" name="Picture 11">
            <a:extLst>
              <a:ext uri="{FF2B5EF4-FFF2-40B4-BE49-F238E27FC236}">
                <a16:creationId xmlns:a16="http://schemas.microsoft.com/office/drawing/2014/main" id="{62D43765-049D-7D5B-526D-BFD655F263C6}"/>
              </a:ext>
            </a:extLst>
          </p:cNvPr>
          <p:cNvPicPr>
            <a:picLocks noChangeAspect="1"/>
          </p:cNvPicPr>
          <p:nvPr/>
        </p:nvPicPr>
        <p:blipFill>
          <a:blip r:embed="rId3"/>
          <a:stretch>
            <a:fillRect/>
          </a:stretch>
        </p:blipFill>
        <p:spPr>
          <a:xfrm>
            <a:off x="935761" y="1600200"/>
            <a:ext cx="2700478" cy="270047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640080" y="457200"/>
            <a:ext cx="10972800" cy="731520"/>
          </a:xfrm>
          <a:prstGeom prst="rect">
            <a:avLst/>
          </a:prstGeom>
          <a:noFill/>
          <a:ln/>
        </p:spPr>
        <p:txBody>
          <a:bodyPr wrap="square" lIns="0" tIns="0" rIns="0" bIns="0" rtlCol="0" anchor="t"/>
          <a:lstStyle/>
          <a:p>
            <a:pPr marL="0" indent="0" algn="l">
              <a:buNone/>
            </a:pPr>
            <a:r>
              <a:rPr lang="en-US" sz="3400" b="1" dirty="0">
                <a:solidFill>
                  <a:srgbClr val="2C5F2D"/>
                </a:solidFill>
                <a:latin typeface="Cambria" pitchFamily="34" charset="0"/>
                <a:ea typeface="Cambria" pitchFamily="34" charset="-122"/>
                <a:cs typeface="Cambria" pitchFamily="34" charset="-120"/>
              </a:rPr>
              <a:t>Why another grain-trade model?</a:t>
            </a:r>
            <a:endParaRPr lang="en-US" sz="3400" dirty="0"/>
          </a:p>
        </p:txBody>
      </p:sp>
      <p:sp>
        <p:nvSpPr>
          <p:cNvPr id="3" name="Shape 1"/>
          <p:cNvSpPr/>
          <p:nvPr/>
        </p:nvSpPr>
        <p:spPr>
          <a:xfrm>
            <a:off x="640080" y="1463040"/>
            <a:ext cx="10881360" cy="1325880"/>
          </a:xfrm>
          <a:prstGeom prst="roundRect">
            <a:avLst>
              <a:gd name="adj" fmla="val 5517"/>
            </a:avLst>
          </a:prstGeom>
          <a:solidFill>
            <a:srgbClr val="FFFFFF"/>
          </a:solidFill>
          <a:ln/>
        </p:spPr>
      </p:sp>
      <p:sp>
        <p:nvSpPr>
          <p:cNvPr id="4" name="Shape 2"/>
          <p:cNvSpPr/>
          <p:nvPr/>
        </p:nvSpPr>
        <p:spPr>
          <a:xfrm>
            <a:off x="640080" y="1463040"/>
            <a:ext cx="109728" cy="1325880"/>
          </a:xfrm>
          <a:prstGeom prst="rect">
            <a:avLst/>
          </a:prstGeom>
          <a:solidFill>
            <a:srgbClr val="D8A72A"/>
          </a:solidFill>
          <a:ln/>
        </p:spPr>
      </p:sp>
      <p:sp>
        <p:nvSpPr>
          <p:cNvPr id="5" name="Shape 3"/>
          <p:cNvSpPr/>
          <p:nvPr/>
        </p:nvSpPr>
        <p:spPr>
          <a:xfrm>
            <a:off x="914400" y="1874520"/>
            <a:ext cx="502920" cy="502920"/>
          </a:xfrm>
          <a:prstGeom prst="ellipse">
            <a:avLst/>
          </a:prstGeom>
          <a:solidFill>
            <a:srgbClr val="E3A81C"/>
          </a:solidFill>
          <a:ln/>
        </p:spPr>
      </p:sp>
      <p:sp>
        <p:nvSpPr>
          <p:cNvPr id="6" name="Text 4"/>
          <p:cNvSpPr/>
          <p:nvPr/>
        </p:nvSpPr>
        <p:spPr>
          <a:xfrm>
            <a:off x="960120" y="1920240"/>
            <a:ext cx="457200" cy="457200"/>
          </a:xfrm>
          <a:prstGeom prst="rect">
            <a:avLst/>
          </a:prstGeom>
          <a:noFill/>
          <a:ln/>
        </p:spPr>
        <p:txBody>
          <a:bodyPr wrap="square" lIns="0" tIns="0" rIns="0" bIns="0" rtlCol="0" anchor="t"/>
          <a:lstStyle/>
          <a:p>
            <a:pPr marL="0" indent="0" algn="ctr">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7" name="Text 5"/>
          <p:cNvSpPr/>
          <p:nvPr/>
        </p:nvSpPr>
        <p:spPr>
          <a:xfrm>
            <a:off x="1783080" y="1627632"/>
            <a:ext cx="9509760" cy="411480"/>
          </a:xfrm>
          <a:prstGeom prst="rect">
            <a:avLst/>
          </a:prstGeom>
          <a:noFill/>
          <a:ln/>
        </p:spPr>
        <p:txBody>
          <a:bodyPr wrap="square" lIns="0" tIns="0" rIns="0" bIns="0" rtlCol="0" anchor="t"/>
          <a:lstStyle/>
          <a:p>
            <a:pPr marL="0" indent="0" algn="l">
              <a:buNone/>
            </a:pPr>
            <a:r>
              <a:rPr lang="en-US" sz="2400" b="1" dirty="0">
                <a:solidFill>
                  <a:srgbClr val="2C5F2D"/>
                </a:solidFill>
                <a:latin typeface="Cambria" pitchFamily="34" charset="0"/>
                <a:ea typeface="Cambria" pitchFamily="34" charset="-122"/>
                <a:cs typeface="Cambria" pitchFamily="34" charset="-120"/>
              </a:rPr>
              <a:t>Export bans cascade</a:t>
            </a:r>
            <a:endParaRPr lang="en-US" sz="2400" dirty="0"/>
          </a:p>
        </p:txBody>
      </p:sp>
      <p:sp>
        <p:nvSpPr>
          <p:cNvPr id="8" name="Text 6"/>
          <p:cNvSpPr/>
          <p:nvPr/>
        </p:nvSpPr>
        <p:spPr>
          <a:xfrm>
            <a:off x="1783080" y="2066544"/>
            <a:ext cx="9509760" cy="640080"/>
          </a:xfrm>
          <a:prstGeom prst="rect">
            <a:avLst/>
          </a:prstGeom>
          <a:noFill/>
          <a:ln/>
        </p:spPr>
        <p:txBody>
          <a:bodyPr wrap="square" lIns="0" tIns="0" rIns="0" bIns="0" rtlCol="0" anchor="t"/>
          <a:lstStyle/>
          <a:p>
            <a:pPr marL="0" indent="0" algn="l">
              <a:lnSpc>
                <a:spcPts val="1800"/>
              </a:lnSpc>
              <a:buNone/>
            </a:pPr>
            <a:r>
              <a:rPr lang="en-US" dirty="0">
                <a:solidFill>
                  <a:srgbClr val="5B6B57"/>
                </a:solidFill>
                <a:latin typeface="Calibri" pitchFamily="34" charset="0"/>
                <a:ea typeface="Calibri" pitchFamily="34" charset="-122"/>
                <a:cs typeface="Calibri" pitchFamily="34" charset="-120"/>
              </a:rPr>
              <a:t>2007/08, 2010/11 and 2022: a shock in one exporter triggers bans elsewhere, and importers bear the price spike. A collective-action failure among states.</a:t>
            </a:r>
            <a:endParaRPr lang="en-US" dirty="0"/>
          </a:p>
        </p:txBody>
      </p:sp>
      <p:sp>
        <p:nvSpPr>
          <p:cNvPr id="9" name="Shape 7"/>
          <p:cNvSpPr/>
          <p:nvPr/>
        </p:nvSpPr>
        <p:spPr>
          <a:xfrm>
            <a:off x="640080" y="2971800"/>
            <a:ext cx="10881360" cy="1325880"/>
          </a:xfrm>
          <a:prstGeom prst="roundRect">
            <a:avLst>
              <a:gd name="adj" fmla="val 5517"/>
            </a:avLst>
          </a:prstGeom>
          <a:solidFill>
            <a:srgbClr val="FFFFFF"/>
          </a:solidFill>
          <a:ln/>
        </p:spPr>
      </p:sp>
      <p:sp>
        <p:nvSpPr>
          <p:cNvPr id="10" name="Shape 8"/>
          <p:cNvSpPr/>
          <p:nvPr/>
        </p:nvSpPr>
        <p:spPr>
          <a:xfrm>
            <a:off x="640080" y="2971800"/>
            <a:ext cx="109728" cy="1325880"/>
          </a:xfrm>
          <a:prstGeom prst="rect">
            <a:avLst/>
          </a:prstGeom>
          <a:solidFill>
            <a:srgbClr val="E0871E"/>
          </a:solidFill>
          <a:ln/>
        </p:spPr>
      </p:sp>
      <p:sp>
        <p:nvSpPr>
          <p:cNvPr id="11" name="Shape 9"/>
          <p:cNvSpPr/>
          <p:nvPr/>
        </p:nvSpPr>
        <p:spPr>
          <a:xfrm>
            <a:off x="914400" y="3383280"/>
            <a:ext cx="502920" cy="502920"/>
          </a:xfrm>
          <a:prstGeom prst="ellipse">
            <a:avLst/>
          </a:prstGeom>
          <a:solidFill>
            <a:srgbClr val="E0871E"/>
          </a:solidFill>
          <a:ln/>
        </p:spPr>
      </p:sp>
      <p:sp>
        <p:nvSpPr>
          <p:cNvPr id="12" name="Text 10"/>
          <p:cNvSpPr/>
          <p:nvPr/>
        </p:nvSpPr>
        <p:spPr>
          <a:xfrm>
            <a:off x="960120" y="3429000"/>
            <a:ext cx="457200" cy="457200"/>
          </a:xfrm>
          <a:prstGeom prst="rect">
            <a:avLst/>
          </a:prstGeom>
          <a:noFill/>
          <a:ln/>
        </p:spPr>
        <p:txBody>
          <a:bodyPr wrap="square" lIns="0" tIns="0" rIns="0" bIns="0" rtlCol="0" anchor="t"/>
          <a:lstStyle/>
          <a:p>
            <a:pPr marL="0" indent="0" algn="ctr">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3" name="Text 11"/>
          <p:cNvSpPr/>
          <p:nvPr/>
        </p:nvSpPr>
        <p:spPr>
          <a:xfrm>
            <a:off x="1783080" y="3136392"/>
            <a:ext cx="9509760" cy="411480"/>
          </a:xfrm>
          <a:prstGeom prst="rect">
            <a:avLst/>
          </a:prstGeom>
          <a:noFill/>
          <a:ln/>
        </p:spPr>
        <p:txBody>
          <a:bodyPr wrap="square" lIns="0" tIns="0" rIns="0" bIns="0" rtlCol="0" anchor="t"/>
          <a:lstStyle/>
          <a:p>
            <a:pPr marL="0" indent="0" algn="l">
              <a:buNone/>
            </a:pPr>
            <a:r>
              <a:rPr lang="en-US" sz="2400" b="1" dirty="0">
                <a:solidFill>
                  <a:srgbClr val="2C5F2D"/>
                </a:solidFill>
                <a:latin typeface="Cambria" pitchFamily="34" charset="0"/>
                <a:ea typeface="Cambria" pitchFamily="34" charset="-122"/>
                <a:cs typeface="Cambria" pitchFamily="34" charset="-120"/>
              </a:rPr>
              <a:t>Single-commodity models miss substitution</a:t>
            </a:r>
            <a:endParaRPr lang="en-US" sz="2400" dirty="0"/>
          </a:p>
        </p:txBody>
      </p:sp>
      <p:sp>
        <p:nvSpPr>
          <p:cNvPr id="14" name="Text 12"/>
          <p:cNvSpPr/>
          <p:nvPr/>
        </p:nvSpPr>
        <p:spPr>
          <a:xfrm>
            <a:off x="1783080" y="3575304"/>
            <a:ext cx="9509760" cy="640080"/>
          </a:xfrm>
          <a:prstGeom prst="rect">
            <a:avLst/>
          </a:prstGeom>
          <a:noFill/>
          <a:ln/>
        </p:spPr>
        <p:txBody>
          <a:bodyPr wrap="square" lIns="0" tIns="0" rIns="0" bIns="0" rtlCol="0" anchor="t"/>
          <a:lstStyle/>
          <a:p>
            <a:pPr marL="0" indent="0" algn="l">
              <a:lnSpc>
                <a:spcPts val="1800"/>
              </a:lnSpc>
              <a:buNone/>
            </a:pPr>
            <a:r>
              <a:rPr lang="en-US" dirty="0">
                <a:solidFill>
                  <a:srgbClr val="5B6B57"/>
                </a:solidFill>
                <a:latin typeface="Calibri" pitchFamily="34" charset="0"/>
                <a:ea typeface="Calibri" pitchFamily="34" charset="-122"/>
                <a:cs typeface="Calibri" pitchFamily="34" charset="-120"/>
              </a:rPr>
              <a:t>TWIST and Agrimate model one grain at a time, so a wheat shock cannot spill into rice or maize — reviewers' standing objection.</a:t>
            </a:r>
            <a:endParaRPr lang="en-US" dirty="0"/>
          </a:p>
        </p:txBody>
      </p:sp>
      <p:sp>
        <p:nvSpPr>
          <p:cNvPr id="15" name="Shape 13"/>
          <p:cNvSpPr/>
          <p:nvPr/>
        </p:nvSpPr>
        <p:spPr>
          <a:xfrm>
            <a:off x="640080" y="4480560"/>
            <a:ext cx="10881360" cy="1325880"/>
          </a:xfrm>
          <a:prstGeom prst="roundRect">
            <a:avLst>
              <a:gd name="adj" fmla="val 5517"/>
            </a:avLst>
          </a:prstGeom>
          <a:solidFill>
            <a:srgbClr val="FFFFFF"/>
          </a:solidFill>
          <a:ln/>
        </p:spPr>
      </p:sp>
      <p:sp>
        <p:nvSpPr>
          <p:cNvPr id="16" name="Shape 14"/>
          <p:cNvSpPr/>
          <p:nvPr/>
        </p:nvSpPr>
        <p:spPr>
          <a:xfrm>
            <a:off x="640080" y="4480560"/>
            <a:ext cx="109728" cy="1325880"/>
          </a:xfrm>
          <a:prstGeom prst="rect">
            <a:avLst/>
          </a:prstGeom>
          <a:solidFill>
            <a:srgbClr val="5E9E5A"/>
          </a:solidFill>
          <a:ln/>
        </p:spPr>
      </p:sp>
      <p:sp>
        <p:nvSpPr>
          <p:cNvPr id="17" name="Shape 15"/>
          <p:cNvSpPr/>
          <p:nvPr/>
        </p:nvSpPr>
        <p:spPr>
          <a:xfrm>
            <a:off x="914400" y="4892040"/>
            <a:ext cx="502920" cy="502920"/>
          </a:xfrm>
          <a:prstGeom prst="ellipse">
            <a:avLst/>
          </a:prstGeom>
          <a:solidFill>
            <a:srgbClr val="5E9E5A"/>
          </a:solidFill>
          <a:ln/>
        </p:spPr>
      </p:sp>
      <p:sp>
        <p:nvSpPr>
          <p:cNvPr id="18" name="Text 16"/>
          <p:cNvSpPr/>
          <p:nvPr/>
        </p:nvSpPr>
        <p:spPr>
          <a:xfrm>
            <a:off x="960120" y="4937760"/>
            <a:ext cx="457200" cy="457200"/>
          </a:xfrm>
          <a:prstGeom prst="rect">
            <a:avLst/>
          </a:prstGeom>
          <a:noFill/>
          <a:ln/>
        </p:spPr>
        <p:txBody>
          <a:bodyPr wrap="square" lIns="0" tIns="0" rIns="0" bIns="0" rtlCol="0" anchor="t"/>
          <a:lstStyle/>
          <a:p>
            <a:pPr marL="0" indent="0" algn="ctr">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9" name="Text 17"/>
          <p:cNvSpPr/>
          <p:nvPr/>
        </p:nvSpPr>
        <p:spPr>
          <a:xfrm>
            <a:off x="1783080" y="4645152"/>
            <a:ext cx="9509760" cy="411480"/>
          </a:xfrm>
          <a:prstGeom prst="rect">
            <a:avLst/>
          </a:prstGeom>
          <a:noFill/>
          <a:ln/>
        </p:spPr>
        <p:txBody>
          <a:bodyPr wrap="square" lIns="0" tIns="0" rIns="0" bIns="0" rtlCol="0" anchor="t"/>
          <a:lstStyle/>
          <a:p>
            <a:pPr marL="0" indent="0" algn="l">
              <a:buNone/>
            </a:pPr>
            <a:r>
              <a:rPr lang="en-US" sz="2400" b="1" dirty="0">
                <a:solidFill>
                  <a:srgbClr val="2C5F2D"/>
                </a:solidFill>
                <a:latin typeface="Cambria" pitchFamily="34" charset="0"/>
                <a:ea typeface="Cambria" pitchFamily="34" charset="-122"/>
                <a:cs typeface="Cambria" pitchFamily="34" charset="-120"/>
              </a:rPr>
              <a:t>Restrictions are usually imposed, not explained</a:t>
            </a:r>
            <a:endParaRPr lang="en-US" sz="2400" dirty="0"/>
          </a:p>
        </p:txBody>
      </p:sp>
      <p:sp>
        <p:nvSpPr>
          <p:cNvPr id="20" name="Text 18"/>
          <p:cNvSpPr/>
          <p:nvPr/>
        </p:nvSpPr>
        <p:spPr>
          <a:xfrm>
            <a:off x="1783080" y="5084064"/>
            <a:ext cx="9509760" cy="640080"/>
          </a:xfrm>
          <a:prstGeom prst="rect">
            <a:avLst/>
          </a:prstGeom>
          <a:noFill/>
          <a:ln/>
        </p:spPr>
        <p:txBody>
          <a:bodyPr wrap="square" lIns="0" tIns="0" rIns="0" bIns="0" rtlCol="0" anchor="t"/>
          <a:lstStyle/>
          <a:p>
            <a:pPr marL="0" indent="0" algn="l">
              <a:lnSpc>
                <a:spcPts val="1800"/>
              </a:lnSpc>
              <a:buNone/>
            </a:pPr>
            <a:r>
              <a:rPr lang="en-US" dirty="0">
                <a:solidFill>
                  <a:srgbClr val="5B6B57"/>
                </a:solidFill>
                <a:latin typeface="Calibri" pitchFamily="34" charset="0"/>
                <a:ea typeface="Calibri" pitchFamily="34" charset="-122"/>
                <a:cs typeface="Calibri" pitchFamily="34" charset="-120"/>
              </a:rPr>
              <a:t>Benchmarks read the historical bans in as inputs; they can't predict who restricts, or run counterfactuals.</a:t>
            </a:r>
            <a:endParaRPr lang="en-US" dirty="0"/>
          </a:p>
        </p:txBody>
      </p:sp>
      <p:sp>
        <p:nvSpPr>
          <p:cNvPr id="21" name="Text 19"/>
          <p:cNvSpPr/>
          <p:nvPr/>
        </p:nvSpPr>
        <p:spPr>
          <a:xfrm>
            <a:off x="640080" y="6355080"/>
            <a:ext cx="10972800" cy="457200"/>
          </a:xfrm>
          <a:prstGeom prst="rect">
            <a:avLst/>
          </a:prstGeom>
          <a:noFill/>
          <a:ln/>
        </p:spPr>
        <p:txBody>
          <a:bodyPr wrap="square" lIns="0" tIns="0" rIns="0" bIns="0" rtlCol="0" anchor="t"/>
          <a:lstStyle/>
          <a:p>
            <a:pPr marL="0" indent="0" algn="l">
              <a:buNone/>
            </a:pPr>
            <a:r>
              <a:rPr lang="en-US" i="1" dirty="0">
                <a:solidFill>
                  <a:srgbClr val="2C5F2D"/>
                </a:solidFill>
                <a:latin typeface="Calibri" pitchFamily="34" charset="0"/>
                <a:ea typeface="Calibri" pitchFamily="34" charset="-122"/>
                <a:cs typeface="Calibri" pitchFamily="34" charset="-120"/>
              </a:rPr>
              <a:t>SHEAF adds cross-commodity substitution and an endogenous export-restriction game to a spatial trade network.</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640080" y="457200"/>
            <a:ext cx="10972800" cy="731520"/>
          </a:xfrm>
          <a:prstGeom prst="rect">
            <a:avLst/>
          </a:prstGeom>
          <a:noFill/>
          <a:ln/>
        </p:spPr>
        <p:txBody>
          <a:bodyPr wrap="square" lIns="0" tIns="0" rIns="0" bIns="0" rtlCol="0" anchor="t"/>
          <a:lstStyle/>
          <a:p>
            <a:pPr marL="0" indent="0" algn="l">
              <a:buNone/>
            </a:pPr>
            <a:r>
              <a:rPr lang="en-US" sz="3400" b="1" dirty="0">
                <a:solidFill>
                  <a:srgbClr val="2C5F2D"/>
                </a:solidFill>
                <a:latin typeface="Cambria" pitchFamily="34" charset="0"/>
                <a:ea typeface="Cambria" pitchFamily="34" charset="-122"/>
                <a:cs typeface="Cambria" pitchFamily="34" charset="-120"/>
              </a:rPr>
              <a:t>The model: three coupled layers</a:t>
            </a:r>
            <a:endParaRPr lang="en-US" sz="3400" dirty="0"/>
          </a:p>
        </p:txBody>
      </p:sp>
      <p:sp>
        <p:nvSpPr>
          <p:cNvPr id="3" name="Shape 1"/>
          <p:cNvSpPr/>
          <p:nvPr/>
        </p:nvSpPr>
        <p:spPr>
          <a:xfrm>
            <a:off x="640080" y="1554480"/>
            <a:ext cx="3611880" cy="3200400"/>
          </a:xfrm>
          <a:prstGeom prst="roundRect">
            <a:avLst>
              <a:gd name="adj" fmla="val 2286"/>
            </a:avLst>
          </a:prstGeom>
          <a:solidFill>
            <a:srgbClr val="FFFFFF"/>
          </a:solidFill>
          <a:ln/>
        </p:spPr>
      </p:sp>
      <p:sp>
        <p:nvSpPr>
          <p:cNvPr id="4" name="Shape 2"/>
          <p:cNvSpPr/>
          <p:nvPr/>
        </p:nvSpPr>
        <p:spPr>
          <a:xfrm>
            <a:off x="2057400" y="1828800"/>
            <a:ext cx="777240" cy="777240"/>
          </a:xfrm>
          <a:prstGeom prst="ellipse">
            <a:avLst/>
          </a:prstGeom>
          <a:solidFill>
            <a:srgbClr val="D8A72A"/>
          </a:solidFill>
          <a:ln/>
        </p:spPr>
      </p:sp>
      <p:pic>
        <p:nvPicPr>
          <p:cNvPr id="5" name="Image 0" descr="/home/claude/deck_assets/ic_market.png"/>
          <p:cNvPicPr>
            <a:picLocks noChangeAspect="1"/>
          </p:cNvPicPr>
          <p:nvPr/>
        </p:nvPicPr>
        <p:blipFill>
          <a:blip r:embed="rId3"/>
          <a:stretch>
            <a:fillRect/>
          </a:stretch>
        </p:blipFill>
        <p:spPr>
          <a:xfrm>
            <a:off x="2217420" y="1988820"/>
            <a:ext cx="457200" cy="457200"/>
          </a:xfrm>
          <a:prstGeom prst="rect">
            <a:avLst/>
          </a:prstGeom>
        </p:spPr>
      </p:pic>
      <p:sp>
        <p:nvSpPr>
          <p:cNvPr id="6" name="Text 3"/>
          <p:cNvSpPr/>
          <p:nvPr/>
        </p:nvSpPr>
        <p:spPr>
          <a:xfrm>
            <a:off x="868680" y="2834640"/>
            <a:ext cx="3154680" cy="457200"/>
          </a:xfrm>
          <a:prstGeom prst="rect">
            <a:avLst/>
          </a:prstGeom>
          <a:noFill/>
          <a:ln/>
        </p:spPr>
        <p:txBody>
          <a:bodyPr wrap="square" lIns="0" tIns="0" rIns="0" bIns="0" rtlCol="0" anchor="t"/>
          <a:lstStyle/>
          <a:p>
            <a:pPr marL="0" indent="0" algn="ctr">
              <a:buNone/>
            </a:pPr>
            <a:r>
              <a:rPr lang="en-US" sz="2800" b="1" dirty="0">
                <a:solidFill>
                  <a:srgbClr val="2C5F2D"/>
                </a:solidFill>
                <a:latin typeface="Cambria" pitchFamily="34" charset="0"/>
                <a:ea typeface="Cambria" pitchFamily="34" charset="-122"/>
                <a:cs typeface="Cambria" pitchFamily="34" charset="-120"/>
              </a:rPr>
              <a:t>Market layer</a:t>
            </a:r>
            <a:endParaRPr lang="en-US" sz="2800" dirty="0"/>
          </a:p>
        </p:txBody>
      </p:sp>
      <p:sp>
        <p:nvSpPr>
          <p:cNvPr id="7" name="Text 4"/>
          <p:cNvSpPr/>
          <p:nvPr/>
        </p:nvSpPr>
        <p:spPr>
          <a:xfrm>
            <a:off x="914400" y="3383280"/>
            <a:ext cx="3063240" cy="1005840"/>
          </a:xfrm>
          <a:prstGeom prst="rect">
            <a:avLst/>
          </a:prstGeom>
          <a:noFill/>
          <a:ln/>
        </p:spPr>
        <p:txBody>
          <a:bodyPr wrap="square" lIns="0" tIns="0" rIns="0" bIns="0" rtlCol="0" anchor="t"/>
          <a:lstStyle/>
          <a:p>
            <a:pPr marL="0" indent="0" algn="ctr">
              <a:lnSpc>
                <a:spcPts val="1700"/>
              </a:lnSpc>
              <a:buNone/>
            </a:pPr>
            <a:r>
              <a:rPr lang="en-US" sz="1600" dirty="0">
                <a:solidFill>
                  <a:srgbClr val="5B6B57"/>
                </a:solidFill>
                <a:latin typeface="Calibri" pitchFamily="34" charset="0"/>
                <a:ea typeface="Calibri" pitchFamily="34" charset="-122"/>
                <a:cs typeface="Calibri" pitchFamily="34" charset="-120"/>
              </a:rPr>
              <a:t>Spatial price equilibrium clears the trade network — bilateral flows, consumption, and domestic prices for all grains jointly.</a:t>
            </a:r>
            <a:endParaRPr lang="en-US" sz="1600" dirty="0"/>
          </a:p>
        </p:txBody>
      </p:sp>
      <p:sp>
        <p:nvSpPr>
          <p:cNvPr id="8" name="Text 5"/>
          <p:cNvSpPr/>
          <p:nvPr/>
        </p:nvSpPr>
        <p:spPr>
          <a:xfrm>
            <a:off x="914400" y="4434840"/>
            <a:ext cx="3063240" cy="365760"/>
          </a:xfrm>
          <a:prstGeom prst="rect">
            <a:avLst/>
          </a:prstGeom>
          <a:noFill/>
          <a:ln/>
        </p:spPr>
        <p:txBody>
          <a:bodyPr wrap="square" lIns="0" tIns="0" rIns="0" bIns="0" rtlCol="0" anchor="t"/>
          <a:lstStyle/>
          <a:p>
            <a:pPr marL="0" indent="0" algn="ctr">
              <a:buNone/>
            </a:pPr>
            <a:r>
              <a:rPr lang="en-US" sz="1600" i="1" dirty="0">
                <a:solidFill>
                  <a:srgbClr val="D8A72A"/>
                </a:solidFill>
                <a:latin typeface="Calibri" pitchFamily="34" charset="0"/>
                <a:ea typeface="Calibri" pitchFamily="34" charset="-122"/>
                <a:cs typeface="Calibri" pitchFamily="34" charset="-120"/>
              </a:rPr>
              <a:t>§2 · one concave QP</a:t>
            </a:r>
            <a:endParaRPr lang="en-US" sz="1600" dirty="0"/>
          </a:p>
        </p:txBody>
      </p:sp>
      <p:sp>
        <p:nvSpPr>
          <p:cNvPr id="9" name="Shape 6"/>
          <p:cNvSpPr/>
          <p:nvPr/>
        </p:nvSpPr>
        <p:spPr>
          <a:xfrm>
            <a:off x="4389120" y="1554480"/>
            <a:ext cx="3611880" cy="3200400"/>
          </a:xfrm>
          <a:prstGeom prst="roundRect">
            <a:avLst>
              <a:gd name="adj" fmla="val 2286"/>
            </a:avLst>
          </a:prstGeom>
          <a:solidFill>
            <a:srgbClr val="FFFFFF"/>
          </a:solidFill>
          <a:ln/>
        </p:spPr>
      </p:sp>
      <p:sp>
        <p:nvSpPr>
          <p:cNvPr id="10" name="Shape 7"/>
          <p:cNvSpPr/>
          <p:nvPr/>
        </p:nvSpPr>
        <p:spPr>
          <a:xfrm>
            <a:off x="5806440" y="1828800"/>
            <a:ext cx="777240" cy="777240"/>
          </a:xfrm>
          <a:prstGeom prst="ellipse">
            <a:avLst/>
          </a:prstGeom>
          <a:solidFill>
            <a:srgbClr val="E0871E"/>
          </a:solidFill>
          <a:ln/>
        </p:spPr>
      </p:sp>
      <p:pic>
        <p:nvPicPr>
          <p:cNvPr id="11" name="Image 1" descr="/home/claude/deck_assets/ic_strategic.png"/>
          <p:cNvPicPr>
            <a:picLocks noChangeAspect="1"/>
          </p:cNvPicPr>
          <p:nvPr/>
        </p:nvPicPr>
        <p:blipFill>
          <a:blip r:embed="rId4"/>
          <a:stretch>
            <a:fillRect/>
          </a:stretch>
        </p:blipFill>
        <p:spPr>
          <a:xfrm>
            <a:off x="5966460" y="1988820"/>
            <a:ext cx="457200" cy="457200"/>
          </a:xfrm>
          <a:prstGeom prst="rect">
            <a:avLst/>
          </a:prstGeom>
        </p:spPr>
      </p:pic>
      <p:sp>
        <p:nvSpPr>
          <p:cNvPr id="12" name="Text 8"/>
          <p:cNvSpPr/>
          <p:nvPr/>
        </p:nvSpPr>
        <p:spPr>
          <a:xfrm>
            <a:off x="4617720" y="2834640"/>
            <a:ext cx="3154680" cy="457200"/>
          </a:xfrm>
          <a:prstGeom prst="rect">
            <a:avLst/>
          </a:prstGeom>
          <a:noFill/>
          <a:ln/>
        </p:spPr>
        <p:txBody>
          <a:bodyPr wrap="square" lIns="0" tIns="0" rIns="0" bIns="0" rtlCol="0" anchor="t"/>
          <a:lstStyle/>
          <a:p>
            <a:pPr marL="0" indent="0" algn="ctr">
              <a:buNone/>
            </a:pPr>
            <a:r>
              <a:rPr lang="en-US" sz="2800" b="1" dirty="0">
                <a:solidFill>
                  <a:srgbClr val="2C5F2D"/>
                </a:solidFill>
                <a:latin typeface="Cambria" pitchFamily="34" charset="0"/>
                <a:ea typeface="Cambria" pitchFamily="34" charset="-122"/>
                <a:cs typeface="Cambria" pitchFamily="34" charset="-120"/>
              </a:rPr>
              <a:t>Strategic layer</a:t>
            </a:r>
            <a:endParaRPr lang="en-US" sz="2800" dirty="0"/>
          </a:p>
        </p:txBody>
      </p:sp>
      <p:sp>
        <p:nvSpPr>
          <p:cNvPr id="13" name="Text 9"/>
          <p:cNvSpPr/>
          <p:nvPr/>
        </p:nvSpPr>
        <p:spPr>
          <a:xfrm>
            <a:off x="4663440" y="3383280"/>
            <a:ext cx="3063240" cy="1005840"/>
          </a:xfrm>
          <a:prstGeom prst="rect">
            <a:avLst/>
          </a:prstGeom>
          <a:noFill/>
          <a:ln/>
        </p:spPr>
        <p:txBody>
          <a:bodyPr wrap="square" lIns="0" tIns="0" rIns="0" bIns="0" rtlCol="0" anchor="t"/>
          <a:lstStyle/>
          <a:p>
            <a:pPr marL="0" indent="0" algn="ctr">
              <a:lnSpc>
                <a:spcPts val="1700"/>
              </a:lnSpc>
              <a:buNone/>
            </a:pPr>
            <a:r>
              <a:rPr lang="en-US" sz="1600" dirty="0">
                <a:solidFill>
                  <a:srgbClr val="5B6B57"/>
                </a:solidFill>
                <a:latin typeface="Calibri" pitchFamily="34" charset="0"/>
                <a:ea typeface="Calibri" pitchFamily="34" charset="-122"/>
                <a:cs typeface="Calibri" pitchFamily="34" charset="-120"/>
              </a:rPr>
              <a:t>Exporting governments choose export restrictions to maximise national welfare. Nash by best response.</a:t>
            </a:r>
            <a:endParaRPr lang="en-US" sz="1600" dirty="0"/>
          </a:p>
        </p:txBody>
      </p:sp>
      <p:sp>
        <p:nvSpPr>
          <p:cNvPr id="14" name="Text 10"/>
          <p:cNvSpPr/>
          <p:nvPr/>
        </p:nvSpPr>
        <p:spPr>
          <a:xfrm>
            <a:off x="4663440" y="4434840"/>
            <a:ext cx="3063240" cy="365760"/>
          </a:xfrm>
          <a:prstGeom prst="rect">
            <a:avLst/>
          </a:prstGeom>
          <a:noFill/>
          <a:ln/>
        </p:spPr>
        <p:txBody>
          <a:bodyPr wrap="square" lIns="0" tIns="0" rIns="0" bIns="0" rtlCol="0" anchor="t"/>
          <a:lstStyle/>
          <a:p>
            <a:pPr marL="0" indent="0" algn="ctr">
              <a:buNone/>
            </a:pPr>
            <a:r>
              <a:rPr lang="en-US" sz="1600" i="1" dirty="0">
                <a:solidFill>
                  <a:srgbClr val="E0871E"/>
                </a:solidFill>
                <a:latin typeface="Calibri" pitchFamily="34" charset="0"/>
                <a:ea typeface="Calibri" pitchFamily="34" charset="-122"/>
                <a:cs typeface="Calibri" pitchFamily="34" charset="-120"/>
              </a:rPr>
              <a:t>§4 · export-restriction game</a:t>
            </a:r>
            <a:endParaRPr lang="en-US" sz="1600" dirty="0"/>
          </a:p>
        </p:txBody>
      </p:sp>
      <p:sp>
        <p:nvSpPr>
          <p:cNvPr id="15" name="Shape 11"/>
          <p:cNvSpPr/>
          <p:nvPr/>
        </p:nvSpPr>
        <p:spPr>
          <a:xfrm>
            <a:off x="8138160" y="1554480"/>
            <a:ext cx="3611880" cy="3200400"/>
          </a:xfrm>
          <a:prstGeom prst="roundRect">
            <a:avLst>
              <a:gd name="adj" fmla="val 2286"/>
            </a:avLst>
          </a:prstGeom>
          <a:solidFill>
            <a:srgbClr val="FFFFFF"/>
          </a:solidFill>
          <a:ln/>
        </p:spPr>
      </p:sp>
      <p:sp>
        <p:nvSpPr>
          <p:cNvPr id="16" name="Shape 12"/>
          <p:cNvSpPr/>
          <p:nvPr/>
        </p:nvSpPr>
        <p:spPr>
          <a:xfrm>
            <a:off x="9555480" y="1828800"/>
            <a:ext cx="777240" cy="777240"/>
          </a:xfrm>
          <a:prstGeom prst="ellipse">
            <a:avLst/>
          </a:prstGeom>
          <a:solidFill>
            <a:srgbClr val="5E9E5A"/>
          </a:solidFill>
          <a:ln/>
        </p:spPr>
      </p:sp>
      <p:pic>
        <p:nvPicPr>
          <p:cNvPr id="17" name="Image 2" descr="/home/claude/deck_assets/ic_storage.png"/>
          <p:cNvPicPr>
            <a:picLocks noChangeAspect="1"/>
          </p:cNvPicPr>
          <p:nvPr/>
        </p:nvPicPr>
        <p:blipFill>
          <a:blip r:embed="rId5"/>
          <a:stretch>
            <a:fillRect/>
          </a:stretch>
        </p:blipFill>
        <p:spPr>
          <a:xfrm>
            <a:off x="9715500" y="1988820"/>
            <a:ext cx="457200" cy="457200"/>
          </a:xfrm>
          <a:prstGeom prst="rect">
            <a:avLst/>
          </a:prstGeom>
        </p:spPr>
      </p:pic>
      <p:sp>
        <p:nvSpPr>
          <p:cNvPr id="18" name="Text 13"/>
          <p:cNvSpPr/>
          <p:nvPr/>
        </p:nvSpPr>
        <p:spPr>
          <a:xfrm>
            <a:off x="8366760" y="2834640"/>
            <a:ext cx="3154680" cy="457200"/>
          </a:xfrm>
          <a:prstGeom prst="rect">
            <a:avLst/>
          </a:prstGeom>
          <a:noFill/>
          <a:ln/>
        </p:spPr>
        <p:txBody>
          <a:bodyPr wrap="square" lIns="0" tIns="0" rIns="0" bIns="0" rtlCol="0" anchor="t"/>
          <a:lstStyle/>
          <a:p>
            <a:pPr marL="0" indent="0" algn="ctr">
              <a:buNone/>
            </a:pPr>
            <a:r>
              <a:rPr lang="en-US" sz="2800" b="1" dirty="0">
                <a:solidFill>
                  <a:srgbClr val="2C5F2D"/>
                </a:solidFill>
                <a:latin typeface="Cambria" pitchFamily="34" charset="0"/>
                <a:ea typeface="Cambria" pitchFamily="34" charset="-122"/>
                <a:cs typeface="Cambria" pitchFamily="34" charset="-120"/>
              </a:rPr>
              <a:t>Storage layer</a:t>
            </a:r>
            <a:endParaRPr lang="en-US" sz="2800" dirty="0"/>
          </a:p>
        </p:txBody>
      </p:sp>
      <p:sp>
        <p:nvSpPr>
          <p:cNvPr id="19" name="Text 14"/>
          <p:cNvSpPr/>
          <p:nvPr/>
        </p:nvSpPr>
        <p:spPr>
          <a:xfrm>
            <a:off x="8412480" y="3383280"/>
            <a:ext cx="3063240" cy="1005840"/>
          </a:xfrm>
          <a:prstGeom prst="rect">
            <a:avLst/>
          </a:prstGeom>
          <a:noFill/>
          <a:ln/>
        </p:spPr>
        <p:txBody>
          <a:bodyPr wrap="square" lIns="0" tIns="0" rIns="0" bIns="0" rtlCol="0" anchor="t"/>
          <a:lstStyle/>
          <a:p>
            <a:pPr marL="0" indent="0" algn="ctr">
              <a:lnSpc>
                <a:spcPts val="1700"/>
              </a:lnSpc>
              <a:buNone/>
            </a:pPr>
            <a:r>
              <a:rPr lang="en-US" sz="1600" dirty="0">
                <a:solidFill>
                  <a:srgbClr val="5B6B57"/>
                </a:solidFill>
                <a:latin typeface="Calibri" pitchFamily="34" charset="0"/>
                <a:ea typeface="Calibri" pitchFamily="34" charset="-122"/>
                <a:cs typeface="Calibri" pitchFamily="34" charset="-120"/>
              </a:rPr>
              <a:t>Competitive and government reserves carry stocks between periods, buffering shocks.</a:t>
            </a:r>
            <a:endParaRPr lang="en-US" sz="1600" dirty="0"/>
          </a:p>
        </p:txBody>
      </p:sp>
      <p:sp>
        <p:nvSpPr>
          <p:cNvPr id="20" name="Text 15"/>
          <p:cNvSpPr/>
          <p:nvPr/>
        </p:nvSpPr>
        <p:spPr>
          <a:xfrm>
            <a:off x="8412480" y="4434840"/>
            <a:ext cx="3063240" cy="365760"/>
          </a:xfrm>
          <a:prstGeom prst="rect">
            <a:avLst/>
          </a:prstGeom>
          <a:noFill/>
          <a:ln/>
        </p:spPr>
        <p:txBody>
          <a:bodyPr wrap="square" lIns="0" tIns="0" rIns="0" bIns="0" rtlCol="0" anchor="t"/>
          <a:lstStyle/>
          <a:p>
            <a:pPr marL="0" indent="0" algn="ctr">
              <a:buNone/>
            </a:pPr>
            <a:r>
              <a:rPr lang="en-US" sz="1600" i="1" dirty="0">
                <a:solidFill>
                  <a:srgbClr val="5E9E5A"/>
                </a:solidFill>
                <a:latin typeface="Calibri" pitchFamily="34" charset="0"/>
                <a:ea typeface="Calibri" pitchFamily="34" charset="-122"/>
                <a:cs typeface="Calibri" pitchFamily="34" charset="-120"/>
              </a:rPr>
              <a:t>§3 · two stock types</a:t>
            </a:r>
            <a:endParaRPr lang="en-US" sz="1600" dirty="0"/>
          </a:p>
        </p:txBody>
      </p:sp>
      <p:sp>
        <p:nvSpPr>
          <p:cNvPr id="21" name="Shape 16"/>
          <p:cNvSpPr/>
          <p:nvPr/>
        </p:nvSpPr>
        <p:spPr>
          <a:xfrm>
            <a:off x="640080" y="5029200"/>
            <a:ext cx="10881360" cy="1051560"/>
          </a:xfrm>
          <a:prstGeom prst="roundRect">
            <a:avLst>
              <a:gd name="adj" fmla="val 6957"/>
            </a:avLst>
          </a:prstGeom>
          <a:solidFill>
            <a:srgbClr val="EEF3E9"/>
          </a:solidFill>
          <a:ln/>
        </p:spPr>
      </p:sp>
      <p:sp>
        <p:nvSpPr>
          <p:cNvPr id="22" name="Text 17"/>
          <p:cNvSpPr/>
          <p:nvPr/>
        </p:nvSpPr>
        <p:spPr>
          <a:xfrm>
            <a:off x="914400" y="5148072"/>
            <a:ext cx="10332720" cy="365760"/>
          </a:xfrm>
          <a:prstGeom prst="rect">
            <a:avLst/>
          </a:prstGeom>
          <a:noFill/>
          <a:ln/>
        </p:spPr>
        <p:txBody>
          <a:bodyPr wrap="square" lIns="0" tIns="0" rIns="0" bIns="0" rtlCol="0" anchor="t"/>
          <a:lstStyle/>
          <a:p>
            <a:pPr marL="0" indent="0" algn="l">
              <a:buNone/>
            </a:pPr>
            <a:r>
              <a:rPr lang="en-US" b="1" dirty="0">
                <a:solidFill>
                  <a:srgbClr val="2C5F2D"/>
                </a:solidFill>
                <a:latin typeface="Cambria" pitchFamily="34" charset="0"/>
                <a:ea typeface="Cambria" pitchFamily="34" charset="-122"/>
                <a:cs typeface="Cambria" pitchFamily="34" charset="-120"/>
              </a:rPr>
              <a:t>How they couple</a:t>
            </a:r>
            <a:endParaRPr lang="en-US" dirty="0"/>
          </a:p>
        </p:txBody>
      </p:sp>
      <p:sp>
        <p:nvSpPr>
          <p:cNvPr id="23" name="Text 18"/>
          <p:cNvSpPr/>
          <p:nvPr/>
        </p:nvSpPr>
        <p:spPr>
          <a:xfrm>
            <a:off x="914400" y="5532120"/>
            <a:ext cx="10424160" cy="548640"/>
          </a:xfrm>
          <a:prstGeom prst="rect">
            <a:avLst/>
          </a:prstGeom>
          <a:noFill/>
          <a:ln/>
        </p:spPr>
        <p:txBody>
          <a:bodyPr wrap="square" lIns="0" tIns="0" rIns="0" bIns="0" rtlCol="0" anchor="t"/>
          <a:lstStyle/>
          <a:p>
            <a:pPr marL="0" indent="0" algn="l">
              <a:lnSpc>
                <a:spcPts val="1700"/>
              </a:lnSpc>
              <a:buNone/>
            </a:pPr>
            <a:r>
              <a:rPr lang="en-US" sz="1600" dirty="0">
                <a:solidFill>
                  <a:srgbClr val="5B6B57"/>
                </a:solidFill>
                <a:latin typeface="Calibri" pitchFamily="34" charset="0"/>
                <a:ea typeface="Calibri" pitchFamily="34" charset="-122"/>
                <a:cs typeface="Calibri" pitchFamily="34" charset="-120"/>
              </a:rPr>
              <a:t>Grains couple through the demand side (substitution). Countries couple through the trade network. Each period: storage sets supply → the game plays → the market clears.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640080" y="457200"/>
            <a:ext cx="10972800" cy="731520"/>
          </a:xfrm>
          <a:prstGeom prst="rect">
            <a:avLst/>
          </a:prstGeom>
          <a:noFill/>
          <a:ln/>
        </p:spPr>
        <p:txBody>
          <a:bodyPr wrap="square" lIns="0" tIns="0" rIns="0" bIns="0" rtlCol="0" anchor="t"/>
          <a:lstStyle/>
          <a:p>
            <a:pPr marL="0" indent="0" algn="l">
              <a:buNone/>
            </a:pPr>
            <a:r>
              <a:rPr lang="en-US" sz="3400" b="1" dirty="0">
                <a:solidFill>
                  <a:srgbClr val="2C5F2D"/>
                </a:solidFill>
                <a:latin typeface="Cambria" pitchFamily="34" charset="0"/>
                <a:ea typeface="Cambria" pitchFamily="34" charset="-122"/>
                <a:cs typeface="Cambria" pitchFamily="34" charset="-120"/>
              </a:rPr>
              <a:t>Who acts: four agent roles</a:t>
            </a:r>
            <a:endParaRPr lang="en-US" sz="3400" dirty="0"/>
          </a:p>
        </p:txBody>
      </p:sp>
      <p:sp>
        <p:nvSpPr>
          <p:cNvPr id="3" name="Shape 1"/>
          <p:cNvSpPr/>
          <p:nvPr/>
        </p:nvSpPr>
        <p:spPr>
          <a:xfrm>
            <a:off x="640080" y="1554480"/>
            <a:ext cx="5257800" cy="2011680"/>
          </a:xfrm>
          <a:prstGeom prst="roundRect">
            <a:avLst>
              <a:gd name="adj" fmla="val 3636"/>
            </a:avLst>
          </a:prstGeom>
          <a:solidFill>
            <a:srgbClr val="FFFFFF"/>
          </a:solidFill>
          <a:ln/>
        </p:spPr>
      </p:sp>
      <p:sp>
        <p:nvSpPr>
          <p:cNvPr id="4" name="Shape 2"/>
          <p:cNvSpPr/>
          <p:nvPr/>
        </p:nvSpPr>
        <p:spPr>
          <a:xfrm>
            <a:off x="960120" y="1874520"/>
            <a:ext cx="640080" cy="640080"/>
          </a:xfrm>
          <a:prstGeom prst="ellipse">
            <a:avLst/>
          </a:prstGeom>
          <a:solidFill>
            <a:srgbClr val="97BC62"/>
          </a:solidFill>
          <a:ln/>
        </p:spPr>
      </p:sp>
      <p:pic>
        <p:nvPicPr>
          <p:cNvPr id="5" name="Image 0" descr="/home/claude/deck_assets/ic_importers.png"/>
          <p:cNvPicPr>
            <a:picLocks noChangeAspect="1"/>
          </p:cNvPicPr>
          <p:nvPr/>
        </p:nvPicPr>
        <p:blipFill>
          <a:blip r:embed="rId3"/>
          <a:stretch>
            <a:fillRect/>
          </a:stretch>
        </p:blipFill>
        <p:spPr>
          <a:xfrm>
            <a:off x="1088136" y="2002536"/>
            <a:ext cx="384048" cy="384048"/>
          </a:xfrm>
          <a:prstGeom prst="rect">
            <a:avLst/>
          </a:prstGeom>
        </p:spPr>
      </p:pic>
      <p:sp>
        <p:nvSpPr>
          <p:cNvPr id="6" name="Text 3"/>
          <p:cNvSpPr/>
          <p:nvPr/>
        </p:nvSpPr>
        <p:spPr>
          <a:xfrm>
            <a:off x="1828800" y="1874520"/>
            <a:ext cx="3931920" cy="411480"/>
          </a:xfrm>
          <a:prstGeom prst="rect">
            <a:avLst/>
          </a:prstGeom>
          <a:noFill/>
          <a:ln/>
        </p:spPr>
        <p:txBody>
          <a:bodyPr wrap="square" lIns="0" tIns="0" rIns="0" bIns="0" rtlCol="0" anchor="t"/>
          <a:lstStyle/>
          <a:p>
            <a:pPr marL="0" indent="0" algn="l">
              <a:buNone/>
            </a:pPr>
            <a:r>
              <a:rPr lang="en-US" sz="1900" b="1" dirty="0">
                <a:solidFill>
                  <a:srgbClr val="2C5F2D"/>
                </a:solidFill>
                <a:latin typeface="Cambria" pitchFamily="34" charset="0"/>
                <a:ea typeface="Cambria" pitchFamily="34" charset="-122"/>
                <a:cs typeface="Cambria" pitchFamily="34" charset="-120"/>
              </a:rPr>
              <a:t>Importers</a:t>
            </a:r>
            <a:endParaRPr lang="en-US" sz="1900" dirty="0"/>
          </a:p>
        </p:txBody>
      </p:sp>
      <p:sp>
        <p:nvSpPr>
          <p:cNvPr id="7" name="Text 4"/>
          <p:cNvSpPr/>
          <p:nvPr/>
        </p:nvSpPr>
        <p:spPr>
          <a:xfrm>
            <a:off x="1828800" y="2377440"/>
            <a:ext cx="3931920" cy="1005840"/>
          </a:xfrm>
          <a:prstGeom prst="rect">
            <a:avLst/>
          </a:prstGeom>
          <a:noFill/>
          <a:ln/>
        </p:spPr>
        <p:txBody>
          <a:bodyPr wrap="square" lIns="0" tIns="0" rIns="0" bIns="0" rtlCol="0" anchor="t"/>
          <a:lstStyle/>
          <a:p>
            <a:pPr marL="0" indent="0" algn="l">
              <a:lnSpc>
                <a:spcPts val="1800"/>
              </a:lnSpc>
              <a:buNone/>
            </a:pPr>
            <a:r>
              <a:rPr lang="en-US" sz="1400" dirty="0">
                <a:solidFill>
                  <a:srgbClr val="5B6B57"/>
                </a:solidFill>
                <a:latin typeface="Calibri" pitchFamily="34" charset="0"/>
                <a:ea typeface="Calibri" pitchFamily="34" charset="-122"/>
                <a:cs typeface="Calibri" pitchFamily="34" charset="-120"/>
              </a:rPr>
              <a:t>Price-taking net buyers; bear the spike when exporters restrict.</a:t>
            </a:r>
            <a:endParaRPr lang="en-US" sz="1400" dirty="0"/>
          </a:p>
        </p:txBody>
      </p:sp>
      <p:sp>
        <p:nvSpPr>
          <p:cNvPr id="8" name="Shape 5"/>
          <p:cNvSpPr/>
          <p:nvPr/>
        </p:nvSpPr>
        <p:spPr>
          <a:xfrm>
            <a:off x="6263640" y="1554480"/>
            <a:ext cx="5257800" cy="2011680"/>
          </a:xfrm>
          <a:prstGeom prst="roundRect">
            <a:avLst>
              <a:gd name="adj" fmla="val 3636"/>
            </a:avLst>
          </a:prstGeom>
          <a:solidFill>
            <a:srgbClr val="FFFFFF"/>
          </a:solidFill>
          <a:ln/>
        </p:spPr>
      </p:sp>
      <p:sp>
        <p:nvSpPr>
          <p:cNvPr id="9" name="Shape 6"/>
          <p:cNvSpPr/>
          <p:nvPr/>
        </p:nvSpPr>
        <p:spPr>
          <a:xfrm>
            <a:off x="6583680" y="1874520"/>
            <a:ext cx="640080" cy="640080"/>
          </a:xfrm>
          <a:prstGeom prst="ellipse">
            <a:avLst/>
          </a:prstGeom>
          <a:solidFill>
            <a:srgbClr val="D8A72A"/>
          </a:solidFill>
          <a:ln/>
        </p:spPr>
      </p:sp>
      <p:pic>
        <p:nvPicPr>
          <p:cNvPr id="10" name="Image 1" descr="/home/claude/deck_assets/ic_exporters.png"/>
          <p:cNvPicPr>
            <a:picLocks noChangeAspect="1"/>
          </p:cNvPicPr>
          <p:nvPr/>
        </p:nvPicPr>
        <p:blipFill>
          <a:blip r:embed="rId4"/>
          <a:stretch>
            <a:fillRect/>
          </a:stretch>
        </p:blipFill>
        <p:spPr>
          <a:xfrm>
            <a:off x="6711696" y="2002536"/>
            <a:ext cx="384048" cy="384048"/>
          </a:xfrm>
          <a:prstGeom prst="rect">
            <a:avLst/>
          </a:prstGeom>
        </p:spPr>
      </p:pic>
      <p:sp>
        <p:nvSpPr>
          <p:cNvPr id="11" name="Text 7"/>
          <p:cNvSpPr/>
          <p:nvPr/>
        </p:nvSpPr>
        <p:spPr>
          <a:xfrm>
            <a:off x="7452360" y="1874520"/>
            <a:ext cx="3931920" cy="411480"/>
          </a:xfrm>
          <a:prstGeom prst="rect">
            <a:avLst/>
          </a:prstGeom>
          <a:noFill/>
          <a:ln/>
        </p:spPr>
        <p:txBody>
          <a:bodyPr wrap="square" lIns="0" tIns="0" rIns="0" bIns="0" rtlCol="0" anchor="t"/>
          <a:lstStyle/>
          <a:p>
            <a:pPr marL="0" indent="0" algn="l">
              <a:buNone/>
            </a:pPr>
            <a:r>
              <a:rPr lang="en-US" sz="1900" b="1" dirty="0">
                <a:solidFill>
                  <a:srgbClr val="2C5F2D"/>
                </a:solidFill>
                <a:latin typeface="Cambria" pitchFamily="34" charset="0"/>
                <a:ea typeface="Cambria" pitchFamily="34" charset="-122"/>
                <a:cs typeface="Cambria" pitchFamily="34" charset="-120"/>
              </a:rPr>
              <a:t>Exporters (strategic)</a:t>
            </a:r>
            <a:endParaRPr lang="en-US" sz="1900" dirty="0"/>
          </a:p>
        </p:txBody>
      </p:sp>
      <p:sp>
        <p:nvSpPr>
          <p:cNvPr id="12" name="Text 8"/>
          <p:cNvSpPr/>
          <p:nvPr/>
        </p:nvSpPr>
        <p:spPr>
          <a:xfrm>
            <a:off x="7452360" y="2377440"/>
            <a:ext cx="3931920" cy="1005840"/>
          </a:xfrm>
          <a:prstGeom prst="rect">
            <a:avLst/>
          </a:prstGeom>
          <a:noFill/>
          <a:ln/>
        </p:spPr>
        <p:txBody>
          <a:bodyPr wrap="square" lIns="0" tIns="0" rIns="0" bIns="0" rtlCol="0" anchor="t"/>
          <a:lstStyle/>
          <a:p>
            <a:pPr marL="0" indent="0" algn="l">
              <a:lnSpc>
                <a:spcPts val="1800"/>
              </a:lnSpc>
              <a:buNone/>
            </a:pPr>
            <a:r>
              <a:rPr lang="en-US" sz="1400" dirty="0">
                <a:solidFill>
                  <a:srgbClr val="5B6B57"/>
                </a:solidFill>
                <a:latin typeface="Calibri" pitchFamily="34" charset="0"/>
                <a:ea typeface="Calibri" pitchFamily="34" charset="-122"/>
                <a:cs typeface="Calibri" pitchFamily="34" charset="-120"/>
              </a:rPr>
              <a:t>Choose export-tax-equivalents to protect domestic consumers — the game's players.</a:t>
            </a:r>
            <a:endParaRPr lang="en-US" sz="1400" dirty="0"/>
          </a:p>
        </p:txBody>
      </p:sp>
      <p:sp>
        <p:nvSpPr>
          <p:cNvPr id="13" name="Shape 9"/>
          <p:cNvSpPr/>
          <p:nvPr/>
        </p:nvSpPr>
        <p:spPr>
          <a:xfrm>
            <a:off x="640080" y="3749040"/>
            <a:ext cx="5257800" cy="2011680"/>
          </a:xfrm>
          <a:prstGeom prst="roundRect">
            <a:avLst>
              <a:gd name="adj" fmla="val 3636"/>
            </a:avLst>
          </a:prstGeom>
          <a:solidFill>
            <a:srgbClr val="FFFFFF"/>
          </a:solidFill>
          <a:ln/>
        </p:spPr>
      </p:sp>
      <p:sp>
        <p:nvSpPr>
          <p:cNvPr id="14" name="Shape 10"/>
          <p:cNvSpPr/>
          <p:nvPr/>
        </p:nvSpPr>
        <p:spPr>
          <a:xfrm>
            <a:off x="960120" y="4069080"/>
            <a:ext cx="640080" cy="640080"/>
          </a:xfrm>
          <a:prstGeom prst="ellipse">
            <a:avLst/>
          </a:prstGeom>
          <a:solidFill>
            <a:srgbClr val="5E9E5A"/>
          </a:solidFill>
          <a:ln/>
        </p:spPr>
      </p:sp>
      <p:pic>
        <p:nvPicPr>
          <p:cNvPr id="15" name="Image 2" descr="/home/claude/deck_assets/ic_competitive.png"/>
          <p:cNvPicPr>
            <a:picLocks noChangeAspect="1"/>
          </p:cNvPicPr>
          <p:nvPr/>
        </p:nvPicPr>
        <p:blipFill>
          <a:blip r:embed="rId5"/>
          <a:stretch>
            <a:fillRect/>
          </a:stretch>
        </p:blipFill>
        <p:spPr>
          <a:xfrm>
            <a:off x="1088136" y="4197096"/>
            <a:ext cx="384048" cy="384048"/>
          </a:xfrm>
          <a:prstGeom prst="rect">
            <a:avLst/>
          </a:prstGeom>
        </p:spPr>
      </p:pic>
      <p:sp>
        <p:nvSpPr>
          <p:cNvPr id="16" name="Text 11"/>
          <p:cNvSpPr/>
          <p:nvPr/>
        </p:nvSpPr>
        <p:spPr>
          <a:xfrm>
            <a:off x="1828800" y="4069080"/>
            <a:ext cx="3931920" cy="411480"/>
          </a:xfrm>
          <a:prstGeom prst="rect">
            <a:avLst/>
          </a:prstGeom>
          <a:noFill/>
          <a:ln/>
        </p:spPr>
        <p:txBody>
          <a:bodyPr wrap="square" lIns="0" tIns="0" rIns="0" bIns="0" rtlCol="0" anchor="t"/>
          <a:lstStyle/>
          <a:p>
            <a:pPr marL="0" indent="0" algn="l">
              <a:buNone/>
            </a:pPr>
            <a:r>
              <a:rPr lang="en-US" sz="1900" b="1" dirty="0">
                <a:solidFill>
                  <a:srgbClr val="2C5F2D"/>
                </a:solidFill>
                <a:latin typeface="Cambria" pitchFamily="34" charset="0"/>
                <a:ea typeface="Cambria" pitchFamily="34" charset="-122"/>
                <a:cs typeface="Cambria" pitchFamily="34" charset="-120"/>
              </a:rPr>
              <a:t>Competitive reserves</a:t>
            </a:r>
            <a:endParaRPr lang="en-US" sz="1900" dirty="0"/>
          </a:p>
        </p:txBody>
      </p:sp>
      <p:sp>
        <p:nvSpPr>
          <p:cNvPr id="17" name="Text 12"/>
          <p:cNvSpPr/>
          <p:nvPr/>
        </p:nvSpPr>
        <p:spPr>
          <a:xfrm>
            <a:off x="1828800" y="4572000"/>
            <a:ext cx="3931920" cy="1005840"/>
          </a:xfrm>
          <a:prstGeom prst="rect">
            <a:avLst/>
          </a:prstGeom>
          <a:noFill/>
          <a:ln/>
        </p:spPr>
        <p:txBody>
          <a:bodyPr wrap="square" lIns="0" tIns="0" rIns="0" bIns="0" rtlCol="0" anchor="t"/>
          <a:lstStyle/>
          <a:p>
            <a:pPr marL="0" indent="0" algn="l">
              <a:lnSpc>
                <a:spcPts val="1800"/>
              </a:lnSpc>
              <a:buNone/>
            </a:pPr>
            <a:r>
              <a:rPr lang="en-US" sz="1400" dirty="0">
                <a:solidFill>
                  <a:srgbClr val="5B6B57"/>
                </a:solidFill>
                <a:latin typeface="Calibri" pitchFamily="34" charset="0"/>
                <a:ea typeface="Calibri" pitchFamily="34" charset="-122"/>
                <a:cs typeface="Calibri" pitchFamily="34" charset="-120"/>
              </a:rPr>
              <a:t>Private storage arbitraging price over time (buy low, sell high).</a:t>
            </a:r>
            <a:endParaRPr lang="en-US" sz="1400" dirty="0"/>
          </a:p>
        </p:txBody>
      </p:sp>
      <p:sp>
        <p:nvSpPr>
          <p:cNvPr id="18" name="Shape 13"/>
          <p:cNvSpPr/>
          <p:nvPr/>
        </p:nvSpPr>
        <p:spPr>
          <a:xfrm>
            <a:off x="6263640" y="3749040"/>
            <a:ext cx="5257800" cy="2011680"/>
          </a:xfrm>
          <a:prstGeom prst="roundRect">
            <a:avLst>
              <a:gd name="adj" fmla="val 3636"/>
            </a:avLst>
          </a:prstGeom>
          <a:solidFill>
            <a:srgbClr val="FFFFFF"/>
          </a:solidFill>
          <a:ln/>
        </p:spPr>
      </p:sp>
      <p:sp>
        <p:nvSpPr>
          <p:cNvPr id="19" name="Shape 14"/>
          <p:cNvSpPr/>
          <p:nvPr/>
        </p:nvSpPr>
        <p:spPr>
          <a:xfrm>
            <a:off x="6583680" y="4069080"/>
            <a:ext cx="640080" cy="640080"/>
          </a:xfrm>
          <a:prstGeom prst="ellipse">
            <a:avLst/>
          </a:prstGeom>
          <a:solidFill>
            <a:srgbClr val="E0871E"/>
          </a:solidFill>
          <a:ln/>
        </p:spPr>
      </p:sp>
      <p:pic>
        <p:nvPicPr>
          <p:cNvPr id="20" name="Image 3" descr="/home/claude/deck_assets/ic_government.png"/>
          <p:cNvPicPr>
            <a:picLocks noChangeAspect="1"/>
          </p:cNvPicPr>
          <p:nvPr/>
        </p:nvPicPr>
        <p:blipFill>
          <a:blip r:embed="rId6"/>
          <a:stretch>
            <a:fillRect/>
          </a:stretch>
        </p:blipFill>
        <p:spPr>
          <a:xfrm>
            <a:off x="6711696" y="4197096"/>
            <a:ext cx="384048" cy="384048"/>
          </a:xfrm>
          <a:prstGeom prst="rect">
            <a:avLst/>
          </a:prstGeom>
        </p:spPr>
      </p:pic>
      <p:sp>
        <p:nvSpPr>
          <p:cNvPr id="21" name="Text 15"/>
          <p:cNvSpPr/>
          <p:nvPr/>
        </p:nvSpPr>
        <p:spPr>
          <a:xfrm>
            <a:off x="7452360" y="4069080"/>
            <a:ext cx="3931920" cy="411480"/>
          </a:xfrm>
          <a:prstGeom prst="rect">
            <a:avLst/>
          </a:prstGeom>
          <a:noFill/>
          <a:ln/>
        </p:spPr>
        <p:txBody>
          <a:bodyPr wrap="square" lIns="0" tIns="0" rIns="0" bIns="0" rtlCol="0" anchor="t"/>
          <a:lstStyle/>
          <a:p>
            <a:pPr marL="0" indent="0" algn="l">
              <a:buNone/>
            </a:pPr>
            <a:r>
              <a:rPr lang="en-US" sz="1900" b="1" dirty="0">
                <a:solidFill>
                  <a:srgbClr val="2C5F2D"/>
                </a:solidFill>
                <a:latin typeface="Cambria" pitchFamily="34" charset="0"/>
                <a:ea typeface="Cambria" pitchFamily="34" charset="-122"/>
                <a:cs typeface="Cambria" pitchFamily="34" charset="-120"/>
              </a:rPr>
              <a:t>Government reserves</a:t>
            </a:r>
            <a:endParaRPr lang="en-US" sz="1900" dirty="0"/>
          </a:p>
        </p:txBody>
      </p:sp>
      <p:sp>
        <p:nvSpPr>
          <p:cNvPr id="22" name="Text 16"/>
          <p:cNvSpPr/>
          <p:nvPr/>
        </p:nvSpPr>
        <p:spPr>
          <a:xfrm>
            <a:off x="7452360" y="4572000"/>
            <a:ext cx="3931920" cy="1005840"/>
          </a:xfrm>
          <a:prstGeom prst="rect">
            <a:avLst/>
          </a:prstGeom>
          <a:noFill/>
          <a:ln/>
        </p:spPr>
        <p:txBody>
          <a:bodyPr wrap="square" lIns="0" tIns="0" rIns="0" bIns="0" rtlCol="0" anchor="t"/>
          <a:lstStyle/>
          <a:p>
            <a:pPr marL="0" indent="0" algn="l">
              <a:lnSpc>
                <a:spcPts val="1800"/>
              </a:lnSpc>
              <a:buNone/>
            </a:pPr>
            <a:r>
              <a:rPr lang="en-US" sz="1400" dirty="0">
                <a:solidFill>
                  <a:srgbClr val="5B6B57"/>
                </a:solidFill>
                <a:latin typeface="Calibri" pitchFamily="34" charset="0"/>
                <a:ea typeface="Calibri" pitchFamily="34" charset="-122"/>
                <a:cs typeface="Calibri" pitchFamily="34" charset="-120"/>
              </a:rPr>
              <a:t>Strategic buffer stocks released in crises, rebuilt when calm.</a:t>
            </a:r>
            <a:endParaRPr lang="en-US" sz="1400" dirty="0"/>
          </a:p>
        </p:txBody>
      </p:sp>
      <p:sp>
        <p:nvSpPr>
          <p:cNvPr id="23" name="Text 17"/>
          <p:cNvSpPr/>
          <p:nvPr/>
        </p:nvSpPr>
        <p:spPr>
          <a:xfrm>
            <a:off x="640080" y="5943600"/>
            <a:ext cx="10972800" cy="640080"/>
          </a:xfrm>
          <a:prstGeom prst="rect">
            <a:avLst/>
          </a:prstGeom>
          <a:noFill/>
          <a:ln/>
        </p:spPr>
        <p:txBody>
          <a:bodyPr wrap="square" lIns="0" tIns="0" rIns="0" bIns="0" rtlCol="0" anchor="t"/>
          <a:lstStyle/>
          <a:p>
            <a:pPr marL="0" indent="0" algn="l">
              <a:lnSpc>
                <a:spcPts val="1700"/>
              </a:lnSpc>
              <a:buNone/>
            </a:pPr>
            <a:r>
              <a:rPr lang="en-US" sz="1300" i="1" dirty="0">
                <a:solidFill>
                  <a:srgbClr val="2C5F2D"/>
                </a:solidFill>
                <a:latin typeface="Calibri" pitchFamily="34" charset="0"/>
                <a:ea typeface="Calibri" pitchFamily="34" charset="-122"/>
                <a:cs typeface="Calibri" pitchFamily="34" charset="-120"/>
              </a:rPr>
              <a:t>Why states, not firms: an export restriction is a sovereign instrument. Traders live in the competitive market layer; the firm optimises within the rules, the state sets them.</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640080" y="411480"/>
            <a:ext cx="10972800" cy="731520"/>
          </a:xfrm>
          <a:prstGeom prst="rect">
            <a:avLst/>
          </a:prstGeom>
          <a:noFill/>
          <a:ln/>
        </p:spPr>
        <p:txBody>
          <a:bodyPr wrap="square" lIns="0" tIns="0" rIns="0" bIns="0" rtlCol="0" anchor="t"/>
          <a:lstStyle/>
          <a:p>
            <a:pPr marL="0" indent="0" algn="l">
              <a:buNone/>
            </a:pPr>
            <a:r>
              <a:rPr lang="en-US" sz="3200" b="1" dirty="0">
                <a:solidFill>
                  <a:srgbClr val="2C5F2D"/>
                </a:solidFill>
                <a:latin typeface="Cambria" pitchFamily="34" charset="0"/>
                <a:ea typeface="Cambria" pitchFamily="34" charset="-122"/>
                <a:cs typeface="Cambria" pitchFamily="34" charset="-120"/>
              </a:rPr>
              <a:t>Step 1 — Demand system (substitution)</a:t>
            </a:r>
            <a:endParaRPr lang="en-US" sz="3200" dirty="0"/>
          </a:p>
        </p:txBody>
      </p:sp>
      <p:sp>
        <p:nvSpPr>
          <p:cNvPr id="3" name="Text 1"/>
          <p:cNvSpPr/>
          <p:nvPr/>
        </p:nvSpPr>
        <p:spPr>
          <a:xfrm>
            <a:off x="640080" y="1143000"/>
            <a:ext cx="10972800" cy="457200"/>
          </a:xfrm>
          <a:prstGeom prst="rect">
            <a:avLst/>
          </a:prstGeom>
          <a:noFill/>
          <a:ln/>
        </p:spPr>
        <p:txBody>
          <a:bodyPr wrap="square" lIns="0" tIns="0" rIns="0" bIns="0" rtlCol="0" anchor="t"/>
          <a:lstStyle/>
          <a:p>
            <a:pPr marL="0" indent="0" algn="l">
              <a:buNone/>
            </a:pPr>
            <a:r>
              <a:rPr lang="en-US" sz="1500" dirty="0">
                <a:solidFill>
                  <a:srgbClr val="5B6B57"/>
                </a:solidFill>
                <a:latin typeface="Calibri" pitchFamily="34" charset="0"/>
                <a:ea typeface="Calibri" pitchFamily="34" charset="-122"/>
                <a:cs typeface="Calibri" pitchFamily="34" charset="-120"/>
              </a:rPr>
              <a:t>Each country consumes all grains through one linear system; cross-price terms are the substitution.</a:t>
            </a:r>
            <a:endParaRPr lang="en-US" sz="1500" dirty="0"/>
          </a:p>
        </p:txBody>
      </p:sp>
      <p:sp>
        <p:nvSpPr>
          <p:cNvPr id="4" name="Shape 2"/>
          <p:cNvSpPr/>
          <p:nvPr/>
        </p:nvSpPr>
        <p:spPr>
          <a:xfrm>
            <a:off x="640080" y="1783080"/>
            <a:ext cx="10881360" cy="914400"/>
          </a:xfrm>
          <a:prstGeom prst="roundRect">
            <a:avLst>
              <a:gd name="adj" fmla="val 8000"/>
            </a:avLst>
          </a:prstGeom>
          <a:solidFill>
            <a:srgbClr val="FFFFFF"/>
          </a:solidFill>
          <a:ln/>
        </p:spPr>
      </p:sp>
      <p:pic>
        <p:nvPicPr>
          <p:cNvPr id="5" name="Image 0" descr="/home/claude/deck_assets/eq_demand.png"/>
          <p:cNvPicPr>
            <a:picLocks noChangeAspect="1"/>
          </p:cNvPicPr>
          <p:nvPr/>
        </p:nvPicPr>
        <p:blipFill>
          <a:blip r:embed="rId3"/>
          <a:srcRect/>
          <a:stretch/>
        </p:blipFill>
        <p:spPr>
          <a:xfrm>
            <a:off x="914400" y="1920240"/>
            <a:ext cx="6583680" cy="685800"/>
          </a:xfrm>
          <a:prstGeom prst="rect">
            <a:avLst/>
          </a:prstGeom>
        </p:spPr>
      </p:pic>
      <p:sp>
        <p:nvSpPr>
          <p:cNvPr id="6" name="Shape 3"/>
          <p:cNvSpPr/>
          <p:nvPr/>
        </p:nvSpPr>
        <p:spPr>
          <a:xfrm>
            <a:off x="640080" y="2834640"/>
            <a:ext cx="10881360" cy="1051560"/>
          </a:xfrm>
          <a:prstGeom prst="roundRect">
            <a:avLst>
              <a:gd name="adj" fmla="val 6957"/>
            </a:avLst>
          </a:prstGeom>
          <a:solidFill>
            <a:srgbClr val="FFFFFF"/>
          </a:solidFill>
          <a:ln/>
        </p:spPr>
      </p:sp>
      <p:pic>
        <p:nvPicPr>
          <p:cNvPr id="7" name="Image 1" descr="/home/claude/deck_assets/eq_benefit.png"/>
          <p:cNvPicPr>
            <a:picLocks noChangeAspect="1"/>
          </p:cNvPicPr>
          <p:nvPr/>
        </p:nvPicPr>
        <p:blipFill>
          <a:blip r:embed="rId4"/>
          <a:srcRect/>
          <a:stretch/>
        </p:blipFill>
        <p:spPr>
          <a:xfrm>
            <a:off x="914400" y="2971800"/>
            <a:ext cx="10058400" cy="822960"/>
          </a:xfrm>
          <a:prstGeom prst="rect">
            <a:avLst/>
          </a:prstGeom>
        </p:spPr>
      </p:pic>
      <p:sp>
        <p:nvSpPr>
          <p:cNvPr id="8" name="Shape 4"/>
          <p:cNvSpPr/>
          <p:nvPr/>
        </p:nvSpPr>
        <p:spPr>
          <a:xfrm>
            <a:off x="640080" y="4023360"/>
            <a:ext cx="10881360" cy="914400"/>
          </a:xfrm>
          <a:prstGeom prst="roundRect">
            <a:avLst>
              <a:gd name="adj" fmla="val 8000"/>
            </a:avLst>
          </a:prstGeom>
          <a:solidFill>
            <a:srgbClr val="FFFFFF"/>
          </a:solidFill>
          <a:ln/>
        </p:spPr>
      </p:sp>
      <p:pic>
        <p:nvPicPr>
          <p:cNvPr id="9" name="Image 2" descr="/home/claude/deck_assets/eq_Mbuild.png"/>
          <p:cNvPicPr>
            <a:picLocks noChangeAspect="1"/>
          </p:cNvPicPr>
          <p:nvPr/>
        </p:nvPicPr>
        <p:blipFill>
          <a:blip r:embed="rId5"/>
          <a:srcRect/>
          <a:stretch/>
        </p:blipFill>
        <p:spPr>
          <a:xfrm>
            <a:off x="914400" y="4160520"/>
            <a:ext cx="9692640" cy="685800"/>
          </a:xfrm>
          <a:prstGeom prst="rect">
            <a:avLst/>
          </a:prstGeom>
        </p:spPr>
      </p:pic>
      <p:sp>
        <p:nvSpPr>
          <p:cNvPr id="10" name="Shape 5"/>
          <p:cNvSpPr/>
          <p:nvPr/>
        </p:nvSpPr>
        <p:spPr>
          <a:xfrm>
            <a:off x="685800" y="5102352"/>
            <a:ext cx="310896" cy="310896"/>
          </a:xfrm>
          <a:prstGeom prst="ellipse">
            <a:avLst/>
          </a:prstGeom>
          <a:solidFill>
            <a:srgbClr val="E3A81C"/>
          </a:solidFill>
          <a:ln/>
        </p:spPr>
      </p:sp>
      <p:sp>
        <p:nvSpPr>
          <p:cNvPr id="11" name="Text 6"/>
          <p:cNvSpPr/>
          <p:nvPr/>
        </p:nvSpPr>
        <p:spPr>
          <a:xfrm>
            <a:off x="1143000" y="5074920"/>
            <a:ext cx="10241280" cy="310896"/>
          </a:xfrm>
          <a:prstGeom prst="rect">
            <a:avLst/>
          </a:prstGeom>
          <a:noFill/>
          <a:ln/>
        </p:spPr>
        <p:txBody>
          <a:bodyPr wrap="square" lIns="0" tIns="0" rIns="0" bIns="0" rtlCol="0" anchor="t"/>
          <a:lstStyle/>
          <a:p>
            <a:pPr marL="0" indent="0" algn="l">
              <a:buNone/>
            </a:pPr>
            <a:r>
              <a:rPr lang="en-US" sz="1400" b="1" dirty="0">
                <a:solidFill>
                  <a:srgbClr val="2C5F2D"/>
                </a:solidFill>
                <a:latin typeface="Cambria" pitchFamily="34" charset="0"/>
                <a:ea typeface="Cambria" pitchFamily="34" charset="-122"/>
                <a:cs typeface="Cambria" pitchFamily="34" charset="-120"/>
              </a:rPr>
              <a:t>Symmetric &amp; positive-definite Mᵢ</a:t>
            </a:r>
            <a:endParaRPr lang="en-US" sz="1400" dirty="0"/>
          </a:p>
        </p:txBody>
      </p:sp>
      <p:sp>
        <p:nvSpPr>
          <p:cNvPr id="12" name="Text 7"/>
          <p:cNvSpPr/>
          <p:nvPr/>
        </p:nvSpPr>
        <p:spPr>
          <a:xfrm>
            <a:off x="1143000" y="5376672"/>
            <a:ext cx="10241280" cy="310896"/>
          </a:xfrm>
          <a:prstGeom prst="rect">
            <a:avLst/>
          </a:prstGeom>
          <a:noFill/>
          <a:ln/>
        </p:spPr>
        <p:txBody>
          <a:bodyPr wrap="square" lIns="0" tIns="0" rIns="0" bIns="0" rtlCol="0" anchor="t"/>
          <a:lstStyle/>
          <a:p>
            <a:pPr marL="0" indent="0" algn="l">
              <a:lnSpc>
                <a:spcPts val="1500"/>
              </a:lnSpc>
              <a:buNone/>
            </a:pPr>
            <a:r>
              <a:rPr lang="en-US" sz="1250" dirty="0">
                <a:solidFill>
                  <a:srgbClr val="5B6B57"/>
                </a:solidFill>
                <a:latin typeface="Calibri" pitchFamily="34" charset="0"/>
                <a:ea typeface="Calibri" pitchFamily="34" charset="-122"/>
                <a:cs typeface="Calibri" pitchFamily="34" charset="-120"/>
              </a:rPr>
              <a:t>Slutsky symmetry ⇒ a concave benefit potential Wᵢ exists ⇒ the market QP is well-posed.</a:t>
            </a:r>
            <a:endParaRPr lang="en-US" sz="1250" dirty="0"/>
          </a:p>
        </p:txBody>
      </p:sp>
      <p:sp>
        <p:nvSpPr>
          <p:cNvPr id="13" name="Shape 8"/>
          <p:cNvSpPr/>
          <p:nvPr/>
        </p:nvSpPr>
        <p:spPr>
          <a:xfrm>
            <a:off x="685800" y="5669280"/>
            <a:ext cx="310896" cy="310896"/>
          </a:xfrm>
          <a:prstGeom prst="ellipse">
            <a:avLst/>
          </a:prstGeom>
          <a:solidFill>
            <a:srgbClr val="E0871E"/>
          </a:solidFill>
          <a:ln/>
        </p:spPr>
      </p:sp>
      <p:sp>
        <p:nvSpPr>
          <p:cNvPr id="14" name="Text 9"/>
          <p:cNvSpPr/>
          <p:nvPr/>
        </p:nvSpPr>
        <p:spPr>
          <a:xfrm>
            <a:off x="1143000" y="5641848"/>
            <a:ext cx="10241280" cy="310896"/>
          </a:xfrm>
          <a:prstGeom prst="rect">
            <a:avLst/>
          </a:prstGeom>
          <a:noFill/>
          <a:ln/>
        </p:spPr>
        <p:txBody>
          <a:bodyPr wrap="square" lIns="0" tIns="0" rIns="0" bIns="0" rtlCol="0" anchor="t"/>
          <a:lstStyle/>
          <a:p>
            <a:pPr marL="0" indent="0" algn="l">
              <a:buNone/>
            </a:pPr>
            <a:r>
              <a:rPr lang="en-US" sz="1400" b="1" dirty="0">
                <a:solidFill>
                  <a:srgbClr val="2C5F2D"/>
                </a:solidFill>
                <a:latin typeface="Cambria" pitchFamily="34" charset="0"/>
                <a:ea typeface="Cambria" pitchFamily="34" charset="-122"/>
                <a:cs typeface="Cambria" pitchFamily="34" charset="-120"/>
              </a:rPr>
              <a:t>Off-diagonals = substitution</a:t>
            </a:r>
            <a:endParaRPr lang="en-US" sz="1400" dirty="0"/>
          </a:p>
        </p:txBody>
      </p:sp>
      <p:sp>
        <p:nvSpPr>
          <p:cNvPr id="15" name="Text 10"/>
          <p:cNvSpPr/>
          <p:nvPr/>
        </p:nvSpPr>
        <p:spPr>
          <a:xfrm>
            <a:off x="1143000" y="5943600"/>
            <a:ext cx="10241280" cy="310896"/>
          </a:xfrm>
          <a:prstGeom prst="rect">
            <a:avLst/>
          </a:prstGeom>
          <a:noFill/>
          <a:ln/>
        </p:spPr>
        <p:txBody>
          <a:bodyPr wrap="square" lIns="0" tIns="0" rIns="0" bIns="0" rtlCol="0" anchor="t"/>
          <a:lstStyle/>
          <a:p>
            <a:pPr marL="0" indent="0" algn="l">
              <a:lnSpc>
                <a:spcPts val="1500"/>
              </a:lnSpc>
              <a:buNone/>
            </a:pPr>
            <a:r>
              <a:rPr lang="en-US" sz="1250" dirty="0">
                <a:solidFill>
                  <a:srgbClr val="5B6B57"/>
                </a:solidFill>
                <a:latin typeface="Calibri" pitchFamily="34" charset="0"/>
                <a:ea typeface="Calibri" pitchFamily="34" charset="-122"/>
                <a:cs typeface="Calibri" pitchFamily="34" charset="-120"/>
              </a:rPr>
              <a:t>A higher price of grain h raises demand for grain g (∂Dᵍ/∂pʰ = −M_{gh} ≥ 0).</a:t>
            </a:r>
            <a:endParaRPr lang="en-US" sz="1250" dirty="0"/>
          </a:p>
        </p:txBody>
      </p:sp>
      <p:sp>
        <p:nvSpPr>
          <p:cNvPr id="16" name="Shape 11"/>
          <p:cNvSpPr/>
          <p:nvPr/>
        </p:nvSpPr>
        <p:spPr>
          <a:xfrm>
            <a:off x="685800" y="6236208"/>
            <a:ext cx="310896" cy="310896"/>
          </a:xfrm>
          <a:prstGeom prst="ellipse">
            <a:avLst/>
          </a:prstGeom>
          <a:solidFill>
            <a:srgbClr val="5E9E5A"/>
          </a:solidFill>
          <a:ln/>
        </p:spPr>
      </p:sp>
      <p:sp>
        <p:nvSpPr>
          <p:cNvPr id="17" name="Text 12"/>
          <p:cNvSpPr/>
          <p:nvPr/>
        </p:nvSpPr>
        <p:spPr>
          <a:xfrm>
            <a:off x="1143000" y="6208776"/>
            <a:ext cx="10241280" cy="310896"/>
          </a:xfrm>
          <a:prstGeom prst="rect">
            <a:avLst/>
          </a:prstGeom>
          <a:noFill/>
          <a:ln/>
        </p:spPr>
        <p:txBody>
          <a:bodyPr wrap="square" lIns="0" tIns="0" rIns="0" bIns="0" rtlCol="0" anchor="t"/>
          <a:lstStyle/>
          <a:p>
            <a:pPr marL="0" indent="0" algn="l">
              <a:buNone/>
            </a:pPr>
            <a:r>
              <a:rPr lang="en-US" sz="1400" b="1" dirty="0">
                <a:solidFill>
                  <a:srgbClr val="2C5F2D"/>
                </a:solidFill>
                <a:latin typeface="Cambria" pitchFamily="34" charset="0"/>
                <a:ea typeface="Cambria" pitchFamily="34" charset="-122"/>
                <a:cs typeface="Cambria" pitchFamily="34" charset="-120"/>
              </a:rPr>
              <a:t>σ dials substitution</a:t>
            </a:r>
            <a:endParaRPr lang="en-US" sz="1400" dirty="0"/>
          </a:p>
        </p:txBody>
      </p:sp>
      <p:sp>
        <p:nvSpPr>
          <p:cNvPr id="18" name="Text 13"/>
          <p:cNvSpPr/>
          <p:nvPr/>
        </p:nvSpPr>
        <p:spPr>
          <a:xfrm>
            <a:off x="1143000" y="6510528"/>
            <a:ext cx="10241280" cy="310896"/>
          </a:xfrm>
          <a:prstGeom prst="rect">
            <a:avLst/>
          </a:prstGeom>
          <a:noFill/>
          <a:ln/>
        </p:spPr>
        <p:txBody>
          <a:bodyPr wrap="square" lIns="0" tIns="0" rIns="0" bIns="0" rtlCol="0" anchor="t"/>
          <a:lstStyle/>
          <a:p>
            <a:pPr marL="0" indent="0" algn="l">
              <a:lnSpc>
                <a:spcPts val="1500"/>
              </a:lnSpc>
              <a:buNone/>
            </a:pPr>
            <a:r>
              <a:rPr lang="en-US" sz="1250" dirty="0">
                <a:solidFill>
                  <a:srgbClr val="5B6B57"/>
                </a:solidFill>
                <a:latin typeface="Calibri" pitchFamily="34" charset="0"/>
                <a:ea typeface="Calibri" pitchFamily="34" charset="-122"/>
                <a:cs typeface="Calibri" pitchFamily="34" charset="-120"/>
              </a:rPr>
              <a:t>σ = 0 ⇒ Mᵢ diagonal ⇒ independent single-commodity markets (see Step 6).</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640080" y="411480"/>
            <a:ext cx="10972800" cy="731520"/>
          </a:xfrm>
          <a:prstGeom prst="rect">
            <a:avLst/>
          </a:prstGeom>
          <a:noFill/>
          <a:ln/>
        </p:spPr>
        <p:txBody>
          <a:bodyPr wrap="square" lIns="0" tIns="0" rIns="0" bIns="0" rtlCol="0" anchor="t"/>
          <a:lstStyle/>
          <a:p>
            <a:pPr marL="0" indent="0" algn="l">
              <a:buNone/>
            </a:pPr>
            <a:r>
              <a:rPr lang="en-US" sz="3100" b="1" dirty="0">
                <a:solidFill>
                  <a:srgbClr val="2C5F2D"/>
                </a:solidFill>
                <a:latin typeface="Cambria" pitchFamily="34" charset="0"/>
                <a:ea typeface="Cambria" pitchFamily="34" charset="-122"/>
                <a:cs typeface="Cambria" pitchFamily="34" charset="-120"/>
              </a:rPr>
              <a:t>Step 2 — Market layer: spatial equilibrium</a:t>
            </a:r>
            <a:endParaRPr lang="en-US" sz="3100" dirty="0"/>
          </a:p>
        </p:txBody>
      </p:sp>
      <p:sp>
        <p:nvSpPr>
          <p:cNvPr id="3" name="Text 1"/>
          <p:cNvSpPr/>
          <p:nvPr/>
        </p:nvSpPr>
        <p:spPr>
          <a:xfrm>
            <a:off x="640080" y="1143000"/>
            <a:ext cx="6949440" cy="822960"/>
          </a:xfrm>
          <a:prstGeom prst="rect">
            <a:avLst/>
          </a:prstGeom>
          <a:noFill/>
          <a:ln/>
        </p:spPr>
        <p:txBody>
          <a:bodyPr wrap="square" lIns="0" tIns="0" rIns="0" bIns="0" rtlCol="0" anchor="t"/>
          <a:lstStyle/>
          <a:p>
            <a:pPr marL="0" indent="0" algn="l">
              <a:lnSpc>
                <a:spcPts val="1800"/>
              </a:lnSpc>
              <a:buNone/>
            </a:pPr>
            <a:r>
              <a:rPr lang="en-US" sz="1400" dirty="0">
                <a:solidFill>
                  <a:srgbClr val="5B6B57"/>
                </a:solidFill>
                <a:latin typeface="Calibri" pitchFamily="34" charset="0"/>
                <a:ea typeface="Calibri" pitchFamily="34" charset="-122"/>
                <a:cs typeface="Calibri" pitchFamily="34" charset="-120"/>
              </a:rPr>
              <a:t>All grains clear jointly as one concave QP: maximise consumer benefit minus delivered trade cost, subject to a per-grain supply balance.</a:t>
            </a:r>
            <a:endParaRPr lang="en-US" sz="1400" dirty="0"/>
          </a:p>
        </p:txBody>
      </p:sp>
      <p:sp>
        <p:nvSpPr>
          <p:cNvPr id="4" name="Shape 2"/>
          <p:cNvSpPr/>
          <p:nvPr/>
        </p:nvSpPr>
        <p:spPr>
          <a:xfrm>
            <a:off x="640080" y="2057400"/>
            <a:ext cx="7040880" cy="914400"/>
          </a:xfrm>
          <a:prstGeom prst="roundRect">
            <a:avLst>
              <a:gd name="adj" fmla="val 8000"/>
            </a:avLst>
          </a:prstGeom>
          <a:solidFill>
            <a:srgbClr val="FFFFFF"/>
          </a:solidFill>
          <a:ln/>
        </p:spPr>
      </p:sp>
      <p:pic>
        <p:nvPicPr>
          <p:cNvPr id="5" name="Image 0" descr="/home/claude/deck_assets/eq_market.png"/>
          <p:cNvPicPr>
            <a:picLocks noChangeAspect="1"/>
          </p:cNvPicPr>
          <p:nvPr/>
        </p:nvPicPr>
        <p:blipFill>
          <a:blip r:embed="rId3"/>
          <a:srcRect/>
          <a:stretch/>
        </p:blipFill>
        <p:spPr>
          <a:xfrm>
            <a:off x="868680" y="2194560"/>
            <a:ext cx="6400800" cy="658368"/>
          </a:xfrm>
          <a:prstGeom prst="rect">
            <a:avLst/>
          </a:prstGeom>
        </p:spPr>
      </p:pic>
      <p:sp>
        <p:nvSpPr>
          <p:cNvPr id="6" name="Shape 3"/>
          <p:cNvSpPr/>
          <p:nvPr/>
        </p:nvSpPr>
        <p:spPr>
          <a:xfrm>
            <a:off x="640080" y="3108960"/>
            <a:ext cx="7040880" cy="1097280"/>
          </a:xfrm>
          <a:prstGeom prst="roundRect">
            <a:avLst>
              <a:gd name="adj" fmla="val 6667"/>
            </a:avLst>
          </a:prstGeom>
          <a:solidFill>
            <a:srgbClr val="FFFFFF"/>
          </a:solidFill>
          <a:ln/>
        </p:spPr>
      </p:sp>
      <p:pic>
        <p:nvPicPr>
          <p:cNvPr id="7" name="Image 1" descr="/home/claude/deck_assets/eq_balance.png"/>
          <p:cNvPicPr>
            <a:picLocks noChangeAspect="1"/>
          </p:cNvPicPr>
          <p:nvPr/>
        </p:nvPicPr>
        <p:blipFill>
          <a:blip r:embed="rId4"/>
          <a:srcRect/>
          <a:stretch/>
        </p:blipFill>
        <p:spPr>
          <a:xfrm>
            <a:off x="868680" y="3200400"/>
            <a:ext cx="6583680" cy="914400"/>
          </a:xfrm>
          <a:prstGeom prst="rect">
            <a:avLst/>
          </a:prstGeom>
        </p:spPr>
      </p:pic>
      <p:sp>
        <p:nvSpPr>
          <p:cNvPr id="8" name="Shape 4"/>
          <p:cNvSpPr/>
          <p:nvPr/>
        </p:nvSpPr>
        <p:spPr>
          <a:xfrm>
            <a:off x="640080" y="4389120"/>
            <a:ext cx="7040880" cy="914400"/>
          </a:xfrm>
          <a:prstGeom prst="roundRect">
            <a:avLst>
              <a:gd name="adj" fmla="val 8000"/>
            </a:avLst>
          </a:prstGeom>
          <a:solidFill>
            <a:srgbClr val="FFFFFF"/>
          </a:solidFill>
          <a:ln/>
        </p:spPr>
      </p:sp>
      <p:pic>
        <p:nvPicPr>
          <p:cNvPr id="9" name="Image 2" descr="/home/claude/deck_assets/eq_arbitrage.png"/>
          <p:cNvPicPr>
            <a:picLocks noChangeAspect="1"/>
          </p:cNvPicPr>
          <p:nvPr/>
        </p:nvPicPr>
        <p:blipFill>
          <a:blip r:embed="rId5"/>
          <a:srcRect/>
          <a:stretch/>
        </p:blipFill>
        <p:spPr>
          <a:xfrm>
            <a:off x="868680" y="4526280"/>
            <a:ext cx="6400800" cy="658368"/>
          </a:xfrm>
          <a:prstGeom prst="rect">
            <a:avLst/>
          </a:prstGeom>
        </p:spPr>
      </p:pic>
      <p:sp>
        <p:nvSpPr>
          <p:cNvPr id="10" name="Text 5"/>
          <p:cNvSpPr/>
          <p:nvPr/>
        </p:nvSpPr>
        <p:spPr>
          <a:xfrm>
            <a:off x="640080" y="5440680"/>
            <a:ext cx="7040880" cy="914400"/>
          </a:xfrm>
          <a:prstGeom prst="rect">
            <a:avLst/>
          </a:prstGeom>
          <a:noFill/>
          <a:ln/>
        </p:spPr>
        <p:txBody>
          <a:bodyPr wrap="square" lIns="0" tIns="0" rIns="0" bIns="0" rtlCol="0" anchor="t"/>
          <a:lstStyle/>
          <a:p>
            <a:pPr marL="0" indent="0" algn="l">
              <a:lnSpc>
                <a:spcPts val="1600"/>
              </a:lnSpc>
              <a:buNone/>
            </a:pPr>
            <a:r>
              <a:rPr lang="en-US" sz="1250" i="1" dirty="0">
                <a:solidFill>
                  <a:srgbClr val="2C5F2D"/>
                </a:solidFill>
                <a:latin typeface="Calibri" pitchFamily="34" charset="0"/>
                <a:ea typeface="Calibri" pitchFamily="34" charset="-122"/>
                <a:cs typeface="Calibri" pitchFamily="34" charset="-120"/>
              </a:rPr>
              <a:t>KKT = Enke–Samuelson arbitrage: grain moves i→j only when the price gap covers delivered cost. An export tax τᵍᵢ raises every route out of i, widening i's insulation wedge.</a:t>
            </a:r>
            <a:endParaRPr lang="en-US" sz="1250" dirty="0"/>
          </a:p>
        </p:txBody>
      </p:sp>
      <p:sp>
        <p:nvSpPr>
          <p:cNvPr id="11" name="Shape 6"/>
          <p:cNvSpPr/>
          <p:nvPr/>
        </p:nvSpPr>
        <p:spPr>
          <a:xfrm>
            <a:off x="7955280" y="2057400"/>
            <a:ext cx="3566160" cy="4297680"/>
          </a:xfrm>
          <a:prstGeom prst="roundRect">
            <a:avLst>
              <a:gd name="adj" fmla="val 2051"/>
            </a:avLst>
          </a:prstGeom>
          <a:solidFill>
            <a:srgbClr val="EEF3E9"/>
          </a:solidFill>
          <a:ln/>
        </p:spPr>
      </p:sp>
      <p:sp>
        <p:nvSpPr>
          <p:cNvPr id="12" name="Text 7"/>
          <p:cNvSpPr/>
          <p:nvPr/>
        </p:nvSpPr>
        <p:spPr>
          <a:xfrm>
            <a:off x="7955280" y="2148840"/>
            <a:ext cx="3566160" cy="274320"/>
          </a:xfrm>
          <a:prstGeom prst="rect">
            <a:avLst/>
          </a:prstGeom>
          <a:noFill/>
          <a:ln/>
        </p:spPr>
        <p:txBody>
          <a:bodyPr wrap="square" lIns="0" tIns="0" rIns="0" bIns="0" rtlCol="0" anchor="t"/>
          <a:lstStyle/>
          <a:p>
            <a:pPr marL="0" indent="0" algn="ctr">
              <a:buNone/>
            </a:pPr>
            <a:r>
              <a:rPr lang="en-US" sz="1200" i="1" dirty="0">
                <a:solidFill>
                  <a:srgbClr val="5B6B57"/>
                </a:solidFill>
                <a:latin typeface="Calibri" pitchFamily="34" charset="0"/>
                <a:ea typeface="Calibri" pitchFamily="34" charset="-122"/>
                <a:cs typeface="Calibri" pitchFamily="34" charset="-120"/>
              </a:rPr>
              <a:t>trade network</a:t>
            </a:r>
            <a:endParaRPr lang="en-US" sz="1200" dirty="0"/>
          </a:p>
        </p:txBody>
      </p:sp>
      <p:sp>
        <p:nvSpPr>
          <p:cNvPr id="13" name="Shape 8"/>
          <p:cNvSpPr/>
          <p:nvPr/>
        </p:nvSpPr>
        <p:spPr>
          <a:xfrm>
            <a:off x="8778240" y="3108960"/>
            <a:ext cx="1097280" cy="914400"/>
          </a:xfrm>
          <a:prstGeom prst="line">
            <a:avLst/>
          </a:prstGeom>
          <a:noFill/>
          <a:ln w="25400">
            <a:solidFill>
              <a:srgbClr val="B9C7AD"/>
            </a:solidFill>
            <a:prstDash val="solid"/>
          </a:ln>
        </p:spPr>
      </p:sp>
      <p:sp>
        <p:nvSpPr>
          <p:cNvPr id="14" name="Shape 9"/>
          <p:cNvSpPr/>
          <p:nvPr/>
        </p:nvSpPr>
        <p:spPr>
          <a:xfrm>
            <a:off x="9875520" y="4023360"/>
            <a:ext cx="1005840" cy="0"/>
          </a:xfrm>
          <a:prstGeom prst="line">
            <a:avLst/>
          </a:prstGeom>
          <a:noFill/>
          <a:ln w="25400">
            <a:solidFill>
              <a:srgbClr val="B9C7AD"/>
            </a:solidFill>
            <a:prstDash val="solid"/>
          </a:ln>
        </p:spPr>
      </p:sp>
      <p:sp>
        <p:nvSpPr>
          <p:cNvPr id="15" name="Shape 10"/>
          <p:cNvSpPr/>
          <p:nvPr/>
        </p:nvSpPr>
        <p:spPr>
          <a:xfrm>
            <a:off x="9875520" y="4023360"/>
            <a:ext cx="1371600" cy="731520"/>
          </a:xfrm>
          <a:prstGeom prst="line">
            <a:avLst/>
          </a:prstGeom>
          <a:noFill/>
          <a:ln w="25400">
            <a:solidFill>
              <a:srgbClr val="B9C7AD"/>
            </a:solidFill>
            <a:prstDash val="solid"/>
          </a:ln>
        </p:spPr>
      </p:sp>
      <p:sp>
        <p:nvSpPr>
          <p:cNvPr id="16" name="Shape 11"/>
          <p:cNvSpPr/>
          <p:nvPr/>
        </p:nvSpPr>
        <p:spPr>
          <a:xfrm>
            <a:off x="8595360" y="5303520"/>
            <a:ext cx="1280160" cy="0"/>
          </a:xfrm>
          <a:prstGeom prst="line">
            <a:avLst/>
          </a:prstGeom>
          <a:noFill/>
          <a:ln w="25400">
            <a:solidFill>
              <a:srgbClr val="B9C7AD"/>
            </a:solidFill>
            <a:prstDash val="solid"/>
          </a:ln>
        </p:spPr>
      </p:sp>
      <p:sp>
        <p:nvSpPr>
          <p:cNvPr id="17" name="Shape 12"/>
          <p:cNvSpPr/>
          <p:nvPr/>
        </p:nvSpPr>
        <p:spPr>
          <a:xfrm>
            <a:off x="8778240" y="3108960"/>
            <a:ext cx="2103120" cy="0"/>
          </a:xfrm>
          <a:prstGeom prst="line">
            <a:avLst/>
          </a:prstGeom>
          <a:noFill/>
          <a:ln w="25400">
            <a:solidFill>
              <a:srgbClr val="B9C7AD"/>
            </a:solidFill>
            <a:prstDash val="solid"/>
          </a:ln>
        </p:spPr>
      </p:sp>
      <p:sp>
        <p:nvSpPr>
          <p:cNvPr id="18" name="Shape 13"/>
          <p:cNvSpPr/>
          <p:nvPr/>
        </p:nvSpPr>
        <p:spPr>
          <a:xfrm>
            <a:off x="8595360" y="5303520"/>
            <a:ext cx="2651760" cy="0"/>
          </a:xfrm>
          <a:prstGeom prst="line">
            <a:avLst/>
          </a:prstGeom>
          <a:noFill/>
          <a:ln w="25400">
            <a:solidFill>
              <a:srgbClr val="B9C7AD"/>
            </a:solidFill>
            <a:prstDash val="solid"/>
          </a:ln>
        </p:spPr>
      </p:sp>
      <p:sp>
        <p:nvSpPr>
          <p:cNvPr id="19" name="Shape 14"/>
          <p:cNvSpPr/>
          <p:nvPr/>
        </p:nvSpPr>
        <p:spPr>
          <a:xfrm>
            <a:off x="8595360" y="2926080"/>
            <a:ext cx="384048" cy="384048"/>
          </a:xfrm>
          <a:prstGeom prst="ellipse">
            <a:avLst/>
          </a:prstGeom>
          <a:solidFill>
            <a:srgbClr val="D8A72A"/>
          </a:solidFill>
          <a:ln/>
        </p:spPr>
      </p:sp>
      <p:sp>
        <p:nvSpPr>
          <p:cNvPr id="20" name="Shape 15"/>
          <p:cNvSpPr/>
          <p:nvPr/>
        </p:nvSpPr>
        <p:spPr>
          <a:xfrm>
            <a:off x="10698480" y="2834640"/>
            <a:ext cx="384048" cy="384048"/>
          </a:xfrm>
          <a:prstGeom prst="ellipse">
            <a:avLst/>
          </a:prstGeom>
          <a:solidFill>
            <a:srgbClr val="97BC62"/>
          </a:solidFill>
          <a:ln/>
        </p:spPr>
      </p:sp>
      <p:sp>
        <p:nvSpPr>
          <p:cNvPr id="21" name="Shape 16"/>
          <p:cNvSpPr/>
          <p:nvPr/>
        </p:nvSpPr>
        <p:spPr>
          <a:xfrm>
            <a:off x="11064240" y="4572000"/>
            <a:ext cx="384048" cy="384048"/>
          </a:xfrm>
          <a:prstGeom prst="ellipse">
            <a:avLst/>
          </a:prstGeom>
          <a:solidFill>
            <a:srgbClr val="97BC62"/>
          </a:solidFill>
          <a:ln/>
        </p:spPr>
      </p:sp>
      <p:sp>
        <p:nvSpPr>
          <p:cNvPr id="22" name="Shape 17"/>
          <p:cNvSpPr/>
          <p:nvPr/>
        </p:nvSpPr>
        <p:spPr>
          <a:xfrm>
            <a:off x="8412480" y="5120640"/>
            <a:ext cx="384048" cy="384048"/>
          </a:xfrm>
          <a:prstGeom prst="ellipse">
            <a:avLst/>
          </a:prstGeom>
          <a:solidFill>
            <a:srgbClr val="D8A72A"/>
          </a:solidFill>
          <a:ln/>
        </p:spPr>
      </p:sp>
      <p:sp>
        <p:nvSpPr>
          <p:cNvPr id="23" name="Shape 18"/>
          <p:cNvSpPr/>
          <p:nvPr/>
        </p:nvSpPr>
        <p:spPr>
          <a:xfrm>
            <a:off x="9692640" y="3840480"/>
            <a:ext cx="384048" cy="384048"/>
          </a:xfrm>
          <a:prstGeom prst="ellipse">
            <a:avLst/>
          </a:prstGeom>
          <a:solidFill>
            <a:srgbClr val="E0871E"/>
          </a:solidFill>
          <a:ln/>
        </p:spPr>
      </p:sp>
      <p:sp>
        <p:nvSpPr>
          <p:cNvPr id="24" name="Text 19"/>
          <p:cNvSpPr/>
          <p:nvPr/>
        </p:nvSpPr>
        <p:spPr>
          <a:xfrm>
            <a:off x="8046720" y="5943600"/>
            <a:ext cx="3383280" cy="274320"/>
          </a:xfrm>
          <a:prstGeom prst="rect">
            <a:avLst/>
          </a:prstGeom>
          <a:noFill/>
          <a:ln/>
        </p:spPr>
        <p:txBody>
          <a:bodyPr wrap="square" lIns="0" tIns="0" rIns="0" bIns="0" rtlCol="0" anchor="t"/>
          <a:lstStyle/>
          <a:p>
            <a:pPr marL="0" indent="0" algn="ctr">
              <a:buNone/>
            </a:pPr>
            <a:r>
              <a:rPr lang="en-US" sz="1000" i="1" dirty="0">
                <a:solidFill>
                  <a:srgbClr val="5B6B57"/>
                </a:solidFill>
                <a:latin typeface="Calibri" pitchFamily="34" charset="0"/>
                <a:ea typeface="Calibri" pitchFamily="34" charset="-122"/>
                <a:cs typeface="Calibri" pitchFamily="34" charset="-120"/>
              </a:rPr>
              <a:t>nodes = countries · gold export · green import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640080" y="457200"/>
            <a:ext cx="10972800" cy="731520"/>
          </a:xfrm>
          <a:prstGeom prst="rect">
            <a:avLst/>
          </a:prstGeom>
          <a:noFill/>
          <a:ln/>
        </p:spPr>
        <p:txBody>
          <a:bodyPr wrap="square" lIns="0" tIns="0" rIns="0" bIns="0" rtlCol="0" anchor="t"/>
          <a:lstStyle/>
          <a:p>
            <a:pPr marL="0" indent="0" algn="l">
              <a:buNone/>
            </a:pPr>
            <a:r>
              <a:rPr lang="en-US" sz="3200" b="1" dirty="0">
                <a:solidFill>
                  <a:srgbClr val="2C5F2D"/>
                </a:solidFill>
                <a:latin typeface="Cambria" pitchFamily="34" charset="0"/>
                <a:ea typeface="Cambria" pitchFamily="34" charset="-122"/>
                <a:cs typeface="Cambria" pitchFamily="34" charset="-120"/>
              </a:rPr>
              <a:t>Step 3 — Storage: two stock types</a:t>
            </a:r>
            <a:endParaRPr lang="en-US" sz="3200" dirty="0"/>
          </a:p>
        </p:txBody>
      </p:sp>
      <p:sp>
        <p:nvSpPr>
          <p:cNvPr id="3" name="Shape 1"/>
          <p:cNvSpPr/>
          <p:nvPr/>
        </p:nvSpPr>
        <p:spPr>
          <a:xfrm>
            <a:off x="640080" y="1463040"/>
            <a:ext cx="5303520" cy="3840480"/>
          </a:xfrm>
          <a:prstGeom prst="roundRect">
            <a:avLst>
              <a:gd name="adj" fmla="val 1905"/>
            </a:avLst>
          </a:prstGeom>
          <a:solidFill>
            <a:srgbClr val="FFFFFF"/>
          </a:solidFill>
          <a:ln/>
        </p:spPr>
      </p:sp>
      <p:sp>
        <p:nvSpPr>
          <p:cNvPr id="4" name="Shape 2"/>
          <p:cNvSpPr/>
          <p:nvPr/>
        </p:nvSpPr>
        <p:spPr>
          <a:xfrm>
            <a:off x="960120" y="1783080"/>
            <a:ext cx="548640" cy="548640"/>
          </a:xfrm>
          <a:prstGeom prst="ellipse">
            <a:avLst/>
          </a:prstGeom>
          <a:solidFill>
            <a:srgbClr val="5E9E5A"/>
          </a:solidFill>
          <a:ln/>
        </p:spPr>
      </p:sp>
      <p:pic>
        <p:nvPicPr>
          <p:cNvPr id="5" name="Image 0" descr="/home/claude/deck_assets/ic_competitive.png"/>
          <p:cNvPicPr>
            <a:picLocks noChangeAspect="1"/>
          </p:cNvPicPr>
          <p:nvPr/>
        </p:nvPicPr>
        <p:blipFill>
          <a:blip r:embed="rId3"/>
          <a:stretch>
            <a:fillRect/>
          </a:stretch>
        </p:blipFill>
        <p:spPr>
          <a:xfrm>
            <a:off x="1042416" y="1865376"/>
            <a:ext cx="384048" cy="384048"/>
          </a:xfrm>
          <a:prstGeom prst="rect">
            <a:avLst/>
          </a:prstGeom>
        </p:spPr>
      </p:pic>
      <p:sp>
        <p:nvSpPr>
          <p:cNvPr id="6" name="Text 3"/>
          <p:cNvSpPr/>
          <p:nvPr/>
        </p:nvSpPr>
        <p:spPr>
          <a:xfrm>
            <a:off x="1691640" y="1783080"/>
            <a:ext cx="4114800" cy="457200"/>
          </a:xfrm>
          <a:prstGeom prst="rect">
            <a:avLst/>
          </a:prstGeom>
          <a:noFill/>
          <a:ln/>
        </p:spPr>
        <p:txBody>
          <a:bodyPr wrap="square" lIns="0" tIns="0" rIns="0" bIns="0" rtlCol="0" anchor="t"/>
          <a:lstStyle/>
          <a:p>
            <a:pPr marL="0" indent="0" algn="l">
              <a:buNone/>
            </a:pPr>
            <a:r>
              <a:rPr lang="en-US" sz="1900" b="1" dirty="0">
                <a:solidFill>
                  <a:srgbClr val="2C5F2D"/>
                </a:solidFill>
                <a:latin typeface="Cambria" pitchFamily="34" charset="0"/>
                <a:ea typeface="Cambria" pitchFamily="34" charset="-122"/>
                <a:cs typeface="Cambria" pitchFamily="34" charset="-120"/>
              </a:rPr>
              <a:t>Competitive reserves</a:t>
            </a:r>
            <a:endParaRPr lang="en-US" sz="1900" dirty="0"/>
          </a:p>
        </p:txBody>
      </p:sp>
      <p:sp>
        <p:nvSpPr>
          <p:cNvPr id="7" name="Text 4"/>
          <p:cNvSpPr/>
          <p:nvPr/>
        </p:nvSpPr>
        <p:spPr>
          <a:xfrm>
            <a:off x="914400" y="2560320"/>
            <a:ext cx="4754880" cy="1737360"/>
          </a:xfrm>
          <a:prstGeom prst="rect">
            <a:avLst/>
          </a:prstGeom>
          <a:noFill/>
          <a:ln/>
        </p:spPr>
        <p:txBody>
          <a:bodyPr wrap="square" lIns="0" tIns="0" rIns="0" bIns="0" rtlCol="0" anchor="t"/>
          <a:lstStyle/>
          <a:p>
            <a:pPr marL="0" indent="0" algn="l">
              <a:lnSpc>
                <a:spcPts val="1800"/>
              </a:lnSpc>
              <a:buNone/>
            </a:pPr>
            <a:r>
              <a:rPr lang="en-US" sz="1300" dirty="0">
                <a:solidFill>
                  <a:srgbClr val="5B6B57"/>
                </a:solidFill>
                <a:latin typeface="Calibri" pitchFamily="34" charset="0"/>
                <a:ea typeface="Calibri" pitchFamily="34" charset="-122"/>
                <a:cs typeface="Calibri" pitchFamily="34" charset="-120"/>
              </a:rPr>
              <a:t>Private storage arbitraging price over time (Wright–Williams / Deaton–Laroque). Build when the discounted expected price beats today's by more than the carrying cost; release otherwise. A dead-band θ = carrying cost.</a:t>
            </a:r>
            <a:endParaRPr lang="en-US" sz="1300" dirty="0"/>
          </a:p>
        </p:txBody>
      </p:sp>
      <p:sp>
        <p:nvSpPr>
          <p:cNvPr id="8" name="Text 5"/>
          <p:cNvSpPr/>
          <p:nvPr/>
        </p:nvSpPr>
        <p:spPr>
          <a:xfrm>
            <a:off x="914400" y="4389120"/>
            <a:ext cx="4754880" cy="274320"/>
          </a:xfrm>
          <a:prstGeom prst="rect">
            <a:avLst/>
          </a:prstGeom>
          <a:noFill/>
          <a:ln/>
        </p:spPr>
        <p:txBody>
          <a:bodyPr wrap="square" lIns="0" tIns="0" rIns="0" bIns="0" rtlCol="0" anchor="t"/>
          <a:lstStyle/>
          <a:p>
            <a:pPr marL="0" indent="0" algn="l">
              <a:buNone/>
            </a:pPr>
            <a:r>
              <a:rPr lang="en-US" sz="1200" b="1" dirty="0">
                <a:solidFill>
                  <a:srgbClr val="2C5F2D"/>
                </a:solidFill>
                <a:latin typeface="Calibri" pitchFamily="34" charset="0"/>
                <a:ea typeface="Calibri" pitchFamily="34" charset="-122"/>
                <a:cs typeface="Calibri" pitchFamily="34" charset="-120"/>
              </a:rPr>
              <a:t>Expectations (mean-reverting):</a:t>
            </a:r>
            <a:endParaRPr lang="en-US" sz="1200" dirty="0"/>
          </a:p>
        </p:txBody>
      </p:sp>
      <p:pic>
        <p:nvPicPr>
          <p:cNvPr id="9" name="Image 1" descr="/home/claude/deck_assets/eq_expect.png"/>
          <p:cNvPicPr>
            <a:picLocks noChangeAspect="1"/>
          </p:cNvPicPr>
          <p:nvPr/>
        </p:nvPicPr>
        <p:blipFill>
          <a:blip r:embed="rId4"/>
          <a:srcRect/>
          <a:stretch/>
        </p:blipFill>
        <p:spPr>
          <a:xfrm>
            <a:off x="914400" y="4663440"/>
            <a:ext cx="4754880" cy="548640"/>
          </a:xfrm>
          <a:prstGeom prst="rect">
            <a:avLst/>
          </a:prstGeom>
        </p:spPr>
      </p:pic>
      <p:sp>
        <p:nvSpPr>
          <p:cNvPr id="10" name="Shape 6"/>
          <p:cNvSpPr/>
          <p:nvPr/>
        </p:nvSpPr>
        <p:spPr>
          <a:xfrm>
            <a:off x="6217920" y="1463040"/>
            <a:ext cx="5303520" cy="3840480"/>
          </a:xfrm>
          <a:prstGeom prst="roundRect">
            <a:avLst>
              <a:gd name="adj" fmla="val 1905"/>
            </a:avLst>
          </a:prstGeom>
          <a:solidFill>
            <a:srgbClr val="FFFFFF"/>
          </a:solidFill>
          <a:ln/>
        </p:spPr>
      </p:sp>
      <p:sp>
        <p:nvSpPr>
          <p:cNvPr id="11" name="Shape 7"/>
          <p:cNvSpPr/>
          <p:nvPr/>
        </p:nvSpPr>
        <p:spPr>
          <a:xfrm>
            <a:off x="6537960" y="1783080"/>
            <a:ext cx="548640" cy="548640"/>
          </a:xfrm>
          <a:prstGeom prst="ellipse">
            <a:avLst/>
          </a:prstGeom>
          <a:solidFill>
            <a:srgbClr val="E0871E"/>
          </a:solidFill>
          <a:ln/>
        </p:spPr>
      </p:sp>
      <p:pic>
        <p:nvPicPr>
          <p:cNvPr id="12" name="Image 2" descr="/home/claude/deck_assets/ic_government.png"/>
          <p:cNvPicPr>
            <a:picLocks noChangeAspect="1"/>
          </p:cNvPicPr>
          <p:nvPr/>
        </p:nvPicPr>
        <p:blipFill>
          <a:blip r:embed="rId5"/>
          <a:stretch>
            <a:fillRect/>
          </a:stretch>
        </p:blipFill>
        <p:spPr>
          <a:xfrm>
            <a:off x="6620256" y="1865376"/>
            <a:ext cx="384048" cy="384048"/>
          </a:xfrm>
          <a:prstGeom prst="rect">
            <a:avLst/>
          </a:prstGeom>
        </p:spPr>
      </p:pic>
      <p:sp>
        <p:nvSpPr>
          <p:cNvPr id="13" name="Text 8"/>
          <p:cNvSpPr/>
          <p:nvPr/>
        </p:nvSpPr>
        <p:spPr>
          <a:xfrm>
            <a:off x="7269480" y="1783080"/>
            <a:ext cx="4114800" cy="457200"/>
          </a:xfrm>
          <a:prstGeom prst="rect">
            <a:avLst/>
          </a:prstGeom>
          <a:noFill/>
          <a:ln/>
        </p:spPr>
        <p:txBody>
          <a:bodyPr wrap="square" lIns="0" tIns="0" rIns="0" bIns="0" rtlCol="0" anchor="t"/>
          <a:lstStyle/>
          <a:p>
            <a:pPr marL="0" indent="0" algn="l">
              <a:buNone/>
            </a:pPr>
            <a:r>
              <a:rPr lang="en-US" sz="1900" b="1" dirty="0">
                <a:solidFill>
                  <a:srgbClr val="2C5F2D"/>
                </a:solidFill>
                <a:latin typeface="Cambria" pitchFamily="34" charset="0"/>
                <a:ea typeface="Cambria" pitchFamily="34" charset="-122"/>
                <a:cs typeface="Cambria" pitchFamily="34" charset="-120"/>
              </a:rPr>
              <a:t>Government reserves</a:t>
            </a:r>
            <a:endParaRPr lang="en-US" sz="1900" dirty="0"/>
          </a:p>
        </p:txBody>
      </p:sp>
      <p:sp>
        <p:nvSpPr>
          <p:cNvPr id="14" name="Text 9"/>
          <p:cNvSpPr/>
          <p:nvPr/>
        </p:nvSpPr>
        <p:spPr>
          <a:xfrm>
            <a:off x="6492240" y="2560320"/>
            <a:ext cx="4754880" cy="1463040"/>
          </a:xfrm>
          <a:prstGeom prst="rect">
            <a:avLst/>
          </a:prstGeom>
          <a:noFill/>
          <a:ln/>
        </p:spPr>
        <p:txBody>
          <a:bodyPr wrap="square" lIns="0" tIns="0" rIns="0" bIns="0" rtlCol="0" anchor="t"/>
          <a:lstStyle/>
          <a:p>
            <a:pPr marL="0" indent="0" algn="l">
              <a:lnSpc>
                <a:spcPts val="1800"/>
              </a:lnSpc>
              <a:buNone/>
            </a:pPr>
            <a:r>
              <a:rPr lang="en-US" sz="1300" dirty="0">
                <a:solidFill>
                  <a:srgbClr val="5B6B57"/>
                </a:solidFill>
                <a:latin typeface="Calibri" pitchFamily="34" charset="0"/>
                <a:ea typeface="Calibri" pitchFamily="34" charset="-122"/>
                <a:cs typeface="Calibri" pitchFamily="34" charset="-120"/>
              </a:rPr>
              <a:t>Strategic buffer stocks. Release in a crisis — when the reference price exceeds a trigger, or when there is a domestic shortfall. Rebuild toward a target stock-to-use ratio ϑᵍᵢ when calm.</a:t>
            </a:r>
            <a:endParaRPr lang="en-US" sz="1300" dirty="0"/>
          </a:p>
        </p:txBody>
      </p:sp>
      <p:sp>
        <p:nvSpPr>
          <p:cNvPr id="15" name="Text 10"/>
          <p:cNvSpPr/>
          <p:nvPr/>
        </p:nvSpPr>
        <p:spPr>
          <a:xfrm>
            <a:off x="6492240" y="4297680"/>
            <a:ext cx="4754880" cy="274320"/>
          </a:xfrm>
          <a:prstGeom prst="rect">
            <a:avLst/>
          </a:prstGeom>
          <a:noFill/>
          <a:ln/>
        </p:spPr>
        <p:txBody>
          <a:bodyPr wrap="square" lIns="0" tIns="0" rIns="0" bIns="0" rtlCol="0" anchor="t"/>
          <a:lstStyle/>
          <a:p>
            <a:pPr marL="0" indent="0" algn="l">
              <a:buNone/>
            </a:pPr>
            <a:r>
              <a:rPr lang="en-US" sz="1200" b="1" dirty="0">
                <a:solidFill>
                  <a:srgbClr val="2C5F2D"/>
                </a:solidFill>
                <a:latin typeface="Calibri" pitchFamily="34" charset="0"/>
                <a:ea typeface="Calibri" pitchFamily="34" charset="-122"/>
                <a:cs typeface="Calibri" pitchFamily="34" charset="-120"/>
              </a:rPr>
              <a:t>Availability entering the market:</a:t>
            </a:r>
            <a:endParaRPr lang="en-US" sz="1200" dirty="0"/>
          </a:p>
        </p:txBody>
      </p:sp>
      <p:sp>
        <p:nvSpPr>
          <p:cNvPr id="16" name="Shape 11"/>
          <p:cNvSpPr/>
          <p:nvPr/>
        </p:nvSpPr>
        <p:spPr>
          <a:xfrm>
            <a:off x="6492240" y="4617720"/>
            <a:ext cx="4754880" cy="548640"/>
          </a:xfrm>
          <a:prstGeom prst="roundRect">
            <a:avLst>
              <a:gd name="adj" fmla="val 13333"/>
            </a:avLst>
          </a:prstGeom>
          <a:solidFill>
            <a:srgbClr val="EEF3E9"/>
          </a:solidFill>
          <a:ln/>
        </p:spPr>
      </p:sp>
      <p:sp>
        <p:nvSpPr>
          <p:cNvPr id="17" name="Text 12"/>
          <p:cNvSpPr/>
          <p:nvPr/>
        </p:nvSpPr>
        <p:spPr>
          <a:xfrm>
            <a:off x="6583680" y="4681728"/>
            <a:ext cx="4572000" cy="411480"/>
          </a:xfrm>
          <a:prstGeom prst="rect">
            <a:avLst/>
          </a:prstGeom>
          <a:noFill/>
          <a:ln/>
        </p:spPr>
        <p:txBody>
          <a:bodyPr wrap="square" lIns="0" tIns="0" rIns="0" bIns="0" rtlCol="0" anchor="t"/>
          <a:lstStyle/>
          <a:p>
            <a:pPr marL="0" indent="0" algn="ctr">
              <a:buNone/>
            </a:pPr>
            <a:r>
              <a:rPr lang="en-US" sz="1400" b="1" dirty="0">
                <a:solidFill>
                  <a:srgbClr val="2C5F2D"/>
                </a:solidFill>
                <a:latin typeface="Calibri" pitchFamily="34" charset="0"/>
                <a:ea typeface="Calibri" pitchFamily="34" charset="-122"/>
                <a:cs typeface="Calibri" pitchFamily="34" charset="-120"/>
              </a:rPr>
              <a:t>Aᵍᵢ = Qᵍᵢ·ξᵍᵢ − Δᵐᵏᵗ − Δᵍᵒᵛ</a:t>
            </a:r>
            <a:endParaRPr lang="en-US" sz="1400" dirty="0"/>
          </a:p>
        </p:txBody>
      </p:sp>
      <p:sp>
        <p:nvSpPr>
          <p:cNvPr id="18" name="Text 13"/>
          <p:cNvSpPr/>
          <p:nvPr/>
        </p:nvSpPr>
        <p:spPr>
          <a:xfrm>
            <a:off x="640080" y="5623560"/>
            <a:ext cx="10972800" cy="457200"/>
          </a:xfrm>
          <a:prstGeom prst="rect">
            <a:avLst/>
          </a:prstGeom>
          <a:noFill/>
          <a:ln/>
        </p:spPr>
        <p:txBody>
          <a:bodyPr wrap="square" lIns="0" tIns="0" rIns="0" bIns="0" rtlCol="0" anchor="t"/>
          <a:lstStyle/>
          <a:p>
            <a:pPr marL="0" indent="0" algn="l">
              <a:buNone/>
            </a:pPr>
            <a:r>
              <a:rPr lang="en-US" sz="1300" i="1" dirty="0">
                <a:solidFill>
                  <a:srgbClr val="2C5F2D"/>
                </a:solidFill>
                <a:latin typeface="Calibri" pitchFamily="34" charset="0"/>
                <a:ea typeface="Calibri" pitchFamily="34" charset="-122"/>
                <a:cs typeface="Calibri" pitchFamily="34" charset="-120"/>
              </a:rPr>
              <a:t>Reserves come from USDA PSD (a measured series), not FAOSTAT food-balance residuals.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640080" y="411480"/>
            <a:ext cx="10972800" cy="731520"/>
          </a:xfrm>
          <a:prstGeom prst="rect">
            <a:avLst/>
          </a:prstGeom>
          <a:noFill/>
          <a:ln/>
        </p:spPr>
        <p:txBody>
          <a:bodyPr wrap="square" lIns="0" tIns="0" rIns="0" bIns="0" rtlCol="0" anchor="t"/>
          <a:lstStyle/>
          <a:p>
            <a:pPr marL="0" indent="0" algn="l">
              <a:buNone/>
            </a:pPr>
            <a:r>
              <a:rPr lang="en-US" sz="3100" b="1" dirty="0">
                <a:solidFill>
                  <a:srgbClr val="2C5F2D"/>
                </a:solidFill>
                <a:latin typeface="Cambria" pitchFamily="34" charset="0"/>
                <a:ea typeface="Cambria" pitchFamily="34" charset="-122"/>
                <a:cs typeface="Cambria" pitchFamily="34" charset="-120"/>
              </a:rPr>
              <a:t>Step 4 — Strategic export-restriction game</a:t>
            </a:r>
            <a:endParaRPr lang="en-US" sz="3100" dirty="0"/>
          </a:p>
        </p:txBody>
      </p:sp>
      <p:sp>
        <p:nvSpPr>
          <p:cNvPr id="3" name="Text 1"/>
          <p:cNvSpPr/>
          <p:nvPr/>
        </p:nvSpPr>
        <p:spPr>
          <a:xfrm>
            <a:off x="640080" y="1143000"/>
            <a:ext cx="7040880" cy="457200"/>
          </a:xfrm>
          <a:prstGeom prst="rect">
            <a:avLst/>
          </a:prstGeom>
          <a:noFill/>
          <a:ln/>
        </p:spPr>
        <p:txBody>
          <a:bodyPr wrap="square" lIns="0" tIns="0" rIns="0" bIns="0" rtlCol="0" anchor="t"/>
          <a:lstStyle/>
          <a:p>
            <a:pPr marL="0" indent="0" algn="l">
              <a:buNone/>
            </a:pPr>
            <a:r>
              <a:rPr lang="en-US" sz="1400" dirty="0">
                <a:solidFill>
                  <a:srgbClr val="5B6B57"/>
                </a:solidFill>
                <a:latin typeface="Calibri" pitchFamily="34" charset="0"/>
                <a:ea typeface="Calibri" pitchFamily="34" charset="-122"/>
                <a:cs typeface="Calibri" pitchFamily="34" charset="-120"/>
              </a:rPr>
              <a:t>Each exporter chooses τᵢ to maximise national welfare, given others' choices:</a:t>
            </a:r>
            <a:endParaRPr lang="en-US" sz="1400" dirty="0"/>
          </a:p>
        </p:txBody>
      </p:sp>
      <p:sp>
        <p:nvSpPr>
          <p:cNvPr id="4" name="Shape 2"/>
          <p:cNvSpPr/>
          <p:nvPr/>
        </p:nvSpPr>
        <p:spPr>
          <a:xfrm>
            <a:off x="640080" y="1691640"/>
            <a:ext cx="10881360" cy="960120"/>
          </a:xfrm>
          <a:prstGeom prst="roundRect">
            <a:avLst>
              <a:gd name="adj" fmla="val 7619"/>
            </a:avLst>
          </a:prstGeom>
          <a:solidFill>
            <a:srgbClr val="FFFFFF"/>
          </a:solidFill>
          <a:ln/>
        </p:spPr>
      </p:sp>
      <p:pic>
        <p:nvPicPr>
          <p:cNvPr id="5" name="Image 0" descr="/home/claude/deck_assets/eq_welfare.png"/>
          <p:cNvPicPr>
            <a:picLocks noChangeAspect="1"/>
          </p:cNvPicPr>
          <p:nvPr/>
        </p:nvPicPr>
        <p:blipFill>
          <a:blip r:embed="rId3"/>
          <a:srcRect/>
          <a:stretch/>
        </p:blipFill>
        <p:spPr>
          <a:xfrm>
            <a:off x="868680" y="1828800"/>
            <a:ext cx="10424160" cy="731520"/>
          </a:xfrm>
          <a:prstGeom prst="rect">
            <a:avLst/>
          </a:prstGeom>
        </p:spPr>
      </p:pic>
      <p:sp>
        <p:nvSpPr>
          <p:cNvPr id="6" name="Text 3"/>
          <p:cNvSpPr/>
          <p:nvPr/>
        </p:nvSpPr>
        <p:spPr>
          <a:xfrm>
            <a:off x="640080" y="2834640"/>
            <a:ext cx="7040880" cy="1554480"/>
          </a:xfrm>
          <a:prstGeom prst="rect">
            <a:avLst/>
          </a:prstGeom>
          <a:noFill/>
          <a:ln/>
        </p:spPr>
        <p:txBody>
          <a:bodyPr wrap="square" lIns="0" tIns="0" rIns="0" bIns="0" rtlCol="0" anchor="t"/>
          <a:lstStyle/>
          <a:p>
            <a:pPr marL="0" indent="0" algn="l">
              <a:lnSpc>
                <a:spcPts val="1800"/>
              </a:lnSpc>
              <a:buNone/>
            </a:pPr>
            <a:r>
              <a:rPr lang="en-US" sz="1350" dirty="0">
                <a:solidFill>
                  <a:srgbClr val="5B6B57"/>
                </a:solidFill>
                <a:latin typeface="Calibri" pitchFamily="34" charset="0"/>
                <a:ea typeface="Calibri" pitchFamily="34" charset="-122"/>
                <a:cs typeface="Calibri" pitchFamily="34" charset="-120"/>
              </a:rPr>
              <a:t>The one-sided penalty (·)₊² is flat until the domestic price passes the tolerated level p̄, then convex — so trade stays open in calm periods and restrictions appear only in spikes. Nash by iterated best response over the market map:</a:t>
            </a:r>
            <a:endParaRPr lang="en-US" sz="1350" dirty="0"/>
          </a:p>
        </p:txBody>
      </p:sp>
      <p:sp>
        <p:nvSpPr>
          <p:cNvPr id="7" name="Shape 4"/>
          <p:cNvSpPr/>
          <p:nvPr/>
        </p:nvSpPr>
        <p:spPr>
          <a:xfrm>
            <a:off x="640080" y="4434840"/>
            <a:ext cx="7040880" cy="868680"/>
          </a:xfrm>
          <a:prstGeom prst="roundRect">
            <a:avLst>
              <a:gd name="adj" fmla="val 8421"/>
            </a:avLst>
          </a:prstGeom>
          <a:solidFill>
            <a:srgbClr val="FFFFFF"/>
          </a:solidFill>
          <a:ln/>
        </p:spPr>
      </p:sp>
      <p:pic>
        <p:nvPicPr>
          <p:cNvPr id="8" name="Image 1" descr="/home/claude/deck_assets/eq_nash.png"/>
          <p:cNvPicPr>
            <a:picLocks noChangeAspect="1"/>
          </p:cNvPicPr>
          <p:nvPr/>
        </p:nvPicPr>
        <p:blipFill>
          <a:blip r:embed="rId4"/>
          <a:srcRect/>
          <a:stretch/>
        </p:blipFill>
        <p:spPr>
          <a:xfrm>
            <a:off x="868680" y="4572000"/>
            <a:ext cx="6035040" cy="594360"/>
          </a:xfrm>
          <a:prstGeom prst="rect">
            <a:avLst/>
          </a:prstGeom>
        </p:spPr>
      </p:pic>
      <p:sp>
        <p:nvSpPr>
          <p:cNvPr id="9" name="Text 5"/>
          <p:cNvSpPr/>
          <p:nvPr/>
        </p:nvSpPr>
        <p:spPr>
          <a:xfrm>
            <a:off x="640080" y="5486400"/>
            <a:ext cx="7040880" cy="548640"/>
          </a:xfrm>
          <a:prstGeom prst="rect">
            <a:avLst/>
          </a:prstGeom>
          <a:noFill/>
          <a:ln/>
        </p:spPr>
        <p:txBody>
          <a:bodyPr wrap="square" lIns="0" tIns="0" rIns="0" bIns="0" rtlCol="0" anchor="t"/>
          <a:lstStyle/>
          <a:p>
            <a:pPr marL="0" indent="0" algn="l">
              <a:lnSpc>
                <a:spcPts val="1600"/>
              </a:lnSpc>
              <a:buNone/>
            </a:pPr>
            <a:r>
              <a:rPr lang="en-US" sz="1250" i="1" dirty="0">
                <a:solidFill>
                  <a:srgbClr val="2C5F2D"/>
                </a:solidFill>
                <a:latin typeface="Calibri" pitchFamily="34" charset="0"/>
                <a:ea typeface="Calibri" pitchFamily="34" charset="-122"/>
                <a:cs typeface="Calibri" pitchFamily="34" charset="-120"/>
              </a:rPr>
              <a:t>CSᵢ, producer income, and the penalty all depend on τ through the equilibrium prices p(τ).</a:t>
            </a:r>
            <a:endParaRPr lang="en-US" sz="1250" dirty="0"/>
          </a:p>
        </p:txBody>
      </p:sp>
      <p:graphicFrame>
        <p:nvGraphicFramePr>
          <p:cNvPr id="10" name="Chart 0"/>
          <p:cNvGraphicFramePr/>
          <p:nvPr/>
        </p:nvGraphicFramePr>
        <p:xfrm>
          <a:off x="7955280" y="2651760"/>
          <a:ext cx="3566160" cy="2926080"/>
        </p:xfrm>
        <a:graphic>
          <a:graphicData uri="http://schemas.openxmlformats.org/drawingml/2006/chart">
            <c:chart xmlns:c="http://schemas.openxmlformats.org/drawingml/2006/chart" xmlns:r="http://schemas.openxmlformats.org/officeDocument/2006/relationships" r:id="rId5"/>
          </a:graphicData>
        </a:graphic>
      </p:graphicFrame>
      <p:sp>
        <p:nvSpPr>
          <p:cNvPr id="11" name="Text 6"/>
          <p:cNvSpPr/>
          <p:nvPr/>
        </p:nvSpPr>
        <p:spPr>
          <a:xfrm>
            <a:off x="7955280" y="5532120"/>
            <a:ext cx="3566160" cy="274320"/>
          </a:xfrm>
          <a:prstGeom prst="rect">
            <a:avLst/>
          </a:prstGeom>
          <a:noFill/>
          <a:ln/>
        </p:spPr>
        <p:txBody>
          <a:bodyPr wrap="square" lIns="0" tIns="0" rIns="0" bIns="0" rtlCol="0" anchor="t"/>
          <a:lstStyle/>
          <a:p>
            <a:pPr marL="0" indent="0" algn="ctr">
              <a:buNone/>
            </a:pPr>
            <a:r>
              <a:rPr lang="en-US" sz="1000" i="1" dirty="0">
                <a:solidFill>
                  <a:srgbClr val="5B6B57"/>
                </a:solidFill>
                <a:latin typeface="Calibri" pitchFamily="34" charset="0"/>
                <a:ea typeface="Calibri" pitchFamily="34" charset="-122"/>
                <a:cs typeface="Calibri" pitchFamily="34" charset="-120"/>
              </a:rPr>
              <a:t>kink at the tolerated price p̄</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640080" y="457200"/>
            <a:ext cx="10972800" cy="731520"/>
          </a:xfrm>
          <a:prstGeom prst="rect">
            <a:avLst/>
          </a:prstGeom>
          <a:noFill/>
          <a:ln/>
        </p:spPr>
        <p:txBody>
          <a:bodyPr wrap="square" lIns="0" tIns="0" rIns="0" bIns="0" rtlCol="0" anchor="t"/>
          <a:lstStyle/>
          <a:p>
            <a:pPr marL="0" indent="0" algn="l">
              <a:buNone/>
            </a:pPr>
            <a:r>
              <a:rPr lang="en-US" sz="3200" b="1" dirty="0">
                <a:solidFill>
                  <a:srgbClr val="2C5F2D"/>
                </a:solidFill>
                <a:latin typeface="Cambria" pitchFamily="34" charset="0"/>
                <a:ea typeface="Cambria" pitchFamily="34" charset="-122"/>
                <a:cs typeface="Cambria" pitchFamily="34" charset="-120"/>
              </a:rPr>
              <a:t>Step 5 — What happens each period</a:t>
            </a:r>
            <a:endParaRPr lang="en-US" sz="3200" dirty="0"/>
          </a:p>
        </p:txBody>
      </p:sp>
      <p:sp>
        <p:nvSpPr>
          <p:cNvPr id="3" name="Shape 1"/>
          <p:cNvSpPr/>
          <p:nvPr/>
        </p:nvSpPr>
        <p:spPr>
          <a:xfrm>
            <a:off x="640080" y="2011680"/>
            <a:ext cx="1965960" cy="2377440"/>
          </a:xfrm>
          <a:prstGeom prst="roundRect">
            <a:avLst>
              <a:gd name="adj" fmla="val 3721"/>
            </a:avLst>
          </a:prstGeom>
          <a:solidFill>
            <a:srgbClr val="FFFFFF"/>
          </a:solidFill>
          <a:ln/>
        </p:spPr>
      </p:sp>
      <p:sp>
        <p:nvSpPr>
          <p:cNvPr id="4" name="Shape 2"/>
          <p:cNvSpPr/>
          <p:nvPr/>
        </p:nvSpPr>
        <p:spPr>
          <a:xfrm>
            <a:off x="1353312" y="2286000"/>
            <a:ext cx="548640" cy="548640"/>
          </a:xfrm>
          <a:prstGeom prst="ellipse">
            <a:avLst/>
          </a:prstGeom>
          <a:solidFill>
            <a:srgbClr val="E3A81C"/>
          </a:solidFill>
          <a:ln/>
        </p:spPr>
      </p:sp>
      <p:sp>
        <p:nvSpPr>
          <p:cNvPr id="5" name="Text 3"/>
          <p:cNvSpPr/>
          <p:nvPr/>
        </p:nvSpPr>
        <p:spPr>
          <a:xfrm>
            <a:off x="640080" y="2350008"/>
            <a:ext cx="1965960" cy="457200"/>
          </a:xfrm>
          <a:prstGeom prst="rect">
            <a:avLst/>
          </a:prstGeom>
          <a:noFill/>
          <a:ln/>
        </p:spPr>
        <p:txBody>
          <a:bodyPr wrap="square" lIns="0" tIns="0" rIns="0" bIns="0" rtlCol="0" anchor="t"/>
          <a:lstStyle/>
          <a:p>
            <a:pPr marL="0" indent="0" algn="ctr">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6" name="Text 4"/>
          <p:cNvSpPr/>
          <p:nvPr/>
        </p:nvSpPr>
        <p:spPr>
          <a:xfrm>
            <a:off x="685800" y="3063240"/>
            <a:ext cx="1874520" cy="365760"/>
          </a:xfrm>
          <a:prstGeom prst="rect">
            <a:avLst/>
          </a:prstGeom>
          <a:noFill/>
          <a:ln/>
        </p:spPr>
        <p:txBody>
          <a:bodyPr wrap="square" lIns="0" tIns="0" rIns="0" bIns="0" rtlCol="0" anchor="t"/>
          <a:lstStyle/>
          <a:p>
            <a:pPr marL="0" indent="0" algn="ctr">
              <a:buNone/>
            </a:pPr>
            <a:r>
              <a:rPr lang="en-US" sz="1500" b="1" dirty="0">
                <a:solidFill>
                  <a:srgbClr val="2C5F2D"/>
                </a:solidFill>
                <a:latin typeface="Cambria" pitchFamily="34" charset="0"/>
                <a:ea typeface="Cambria" pitchFamily="34" charset="-122"/>
                <a:cs typeface="Cambria" pitchFamily="34" charset="-120"/>
              </a:rPr>
              <a:t>Expectations</a:t>
            </a:r>
            <a:endParaRPr lang="en-US" sz="1500" dirty="0"/>
          </a:p>
        </p:txBody>
      </p:sp>
      <p:sp>
        <p:nvSpPr>
          <p:cNvPr id="7" name="Text 5"/>
          <p:cNvSpPr/>
          <p:nvPr/>
        </p:nvSpPr>
        <p:spPr>
          <a:xfrm>
            <a:off x="731520" y="3474720"/>
            <a:ext cx="1783080" cy="868680"/>
          </a:xfrm>
          <a:prstGeom prst="rect">
            <a:avLst/>
          </a:prstGeom>
          <a:noFill/>
          <a:ln/>
        </p:spPr>
        <p:txBody>
          <a:bodyPr wrap="square" lIns="0" tIns="0" rIns="0" bIns="0" rtlCol="0" anchor="t"/>
          <a:lstStyle/>
          <a:p>
            <a:pPr marL="0" indent="0" algn="ctr">
              <a:lnSpc>
                <a:spcPts val="1400"/>
              </a:lnSpc>
              <a:buNone/>
            </a:pPr>
            <a:r>
              <a:rPr lang="en-US" sz="1150" dirty="0">
                <a:solidFill>
                  <a:srgbClr val="5B6B57"/>
                </a:solidFill>
                <a:latin typeface="Calibri" pitchFamily="34" charset="0"/>
                <a:ea typeface="Calibri" pitchFamily="34" charset="-122"/>
                <a:cs typeface="Calibri" pitchFamily="34" charset="-120"/>
              </a:rPr>
              <a:t>form price expectations pᵉ (mean-reverting)</a:t>
            </a:r>
            <a:endParaRPr lang="en-US" sz="1150" dirty="0"/>
          </a:p>
        </p:txBody>
      </p:sp>
      <p:sp>
        <p:nvSpPr>
          <p:cNvPr id="8" name="Shape 6"/>
          <p:cNvSpPr/>
          <p:nvPr/>
        </p:nvSpPr>
        <p:spPr>
          <a:xfrm>
            <a:off x="2615184" y="3063240"/>
            <a:ext cx="365760" cy="320040"/>
          </a:xfrm>
          <a:prstGeom prst="rightArrow">
            <a:avLst/>
          </a:prstGeom>
          <a:solidFill>
            <a:srgbClr val="97BC62"/>
          </a:solidFill>
          <a:ln/>
        </p:spPr>
      </p:sp>
      <p:sp>
        <p:nvSpPr>
          <p:cNvPr id="9" name="Shape 7"/>
          <p:cNvSpPr/>
          <p:nvPr/>
        </p:nvSpPr>
        <p:spPr>
          <a:xfrm>
            <a:off x="2953512" y="2011680"/>
            <a:ext cx="1965960" cy="2377440"/>
          </a:xfrm>
          <a:prstGeom prst="roundRect">
            <a:avLst>
              <a:gd name="adj" fmla="val 3721"/>
            </a:avLst>
          </a:prstGeom>
          <a:solidFill>
            <a:srgbClr val="FFFFFF"/>
          </a:solidFill>
          <a:ln/>
        </p:spPr>
      </p:sp>
      <p:sp>
        <p:nvSpPr>
          <p:cNvPr id="10" name="Shape 8"/>
          <p:cNvSpPr/>
          <p:nvPr/>
        </p:nvSpPr>
        <p:spPr>
          <a:xfrm>
            <a:off x="3666744" y="2286000"/>
            <a:ext cx="548640" cy="548640"/>
          </a:xfrm>
          <a:prstGeom prst="ellipse">
            <a:avLst/>
          </a:prstGeom>
          <a:solidFill>
            <a:srgbClr val="97BC62"/>
          </a:solidFill>
          <a:ln/>
        </p:spPr>
      </p:sp>
      <p:sp>
        <p:nvSpPr>
          <p:cNvPr id="11" name="Text 9"/>
          <p:cNvSpPr/>
          <p:nvPr/>
        </p:nvSpPr>
        <p:spPr>
          <a:xfrm>
            <a:off x="2953512" y="2350008"/>
            <a:ext cx="1965960" cy="457200"/>
          </a:xfrm>
          <a:prstGeom prst="rect">
            <a:avLst/>
          </a:prstGeom>
          <a:noFill/>
          <a:ln/>
        </p:spPr>
        <p:txBody>
          <a:bodyPr wrap="square" lIns="0" tIns="0" rIns="0" bIns="0" rtlCol="0" anchor="t"/>
          <a:lstStyle/>
          <a:p>
            <a:pPr marL="0" indent="0" algn="ctr">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2" name="Text 10"/>
          <p:cNvSpPr/>
          <p:nvPr/>
        </p:nvSpPr>
        <p:spPr>
          <a:xfrm>
            <a:off x="2999232" y="3063240"/>
            <a:ext cx="1874520" cy="365760"/>
          </a:xfrm>
          <a:prstGeom prst="rect">
            <a:avLst/>
          </a:prstGeom>
          <a:noFill/>
          <a:ln/>
        </p:spPr>
        <p:txBody>
          <a:bodyPr wrap="square" lIns="0" tIns="0" rIns="0" bIns="0" rtlCol="0" anchor="t"/>
          <a:lstStyle/>
          <a:p>
            <a:pPr marL="0" indent="0" algn="ctr">
              <a:buNone/>
            </a:pPr>
            <a:r>
              <a:rPr lang="en-US" sz="1500" b="1" dirty="0">
                <a:solidFill>
                  <a:srgbClr val="2C5F2D"/>
                </a:solidFill>
                <a:latin typeface="Cambria" pitchFamily="34" charset="0"/>
                <a:ea typeface="Cambria" pitchFamily="34" charset="-122"/>
                <a:cs typeface="Cambria" pitchFamily="34" charset="-120"/>
              </a:rPr>
              <a:t>Storage</a:t>
            </a:r>
            <a:endParaRPr lang="en-US" sz="1500" dirty="0"/>
          </a:p>
        </p:txBody>
      </p:sp>
      <p:sp>
        <p:nvSpPr>
          <p:cNvPr id="13" name="Text 11"/>
          <p:cNvSpPr/>
          <p:nvPr/>
        </p:nvSpPr>
        <p:spPr>
          <a:xfrm>
            <a:off x="3044952" y="3474720"/>
            <a:ext cx="1783080" cy="868680"/>
          </a:xfrm>
          <a:prstGeom prst="rect">
            <a:avLst/>
          </a:prstGeom>
          <a:noFill/>
          <a:ln/>
        </p:spPr>
        <p:txBody>
          <a:bodyPr wrap="square" lIns="0" tIns="0" rIns="0" bIns="0" rtlCol="0" anchor="t"/>
          <a:lstStyle/>
          <a:p>
            <a:pPr marL="0" indent="0" algn="ctr">
              <a:lnSpc>
                <a:spcPts val="1400"/>
              </a:lnSpc>
              <a:buNone/>
            </a:pPr>
            <a:r>
              <a:rPr lang="en-US" sz="1150" dirty="0">
                <a:solidFill>
                  <a:srgbClr val="5B6B57"/>
                </a:solidFill>
                <a:latin typeface="Calibri" pitchFamily="34" charset="0"/>
                <a:ea typeface="Calibri" pitchFamily="34" charset="-122"/>
                <a:cs typeface="Calibri" pitchFamily="34" charset="-120"/>
              </a:rPr>
              <a:t>reserves set builds/releases → availability A</a:t>
            </a:r>
            <a:endParaRPr lang="en-US" sz="1150" dirty="0"/>
          </a:p>
        </p:txBody>
      </p:sp>
      <p:sp>
        <p:nvSpPr>
          <p:cNvPr id="14" name="Shape 12"/>
          <p:cNvSpPr/>
          <p:nvPr/>
        </p:nvSpPr>
        <p:spPr>
          <a:xfrm>
            <a:off x="4928616" y="3063240"/>
            <a:ext cx="365760" cy="320040"/>
          </a:xfrm>
          <a:prstGeom prst="rightArrow">
            <a:avLst/>
          </a:prstGeom>
          <a:solidFill>
            <a:srgbClr val="97BC62"/>
          </a:solidFill>
          <a:ln/>
        </p:spPr>
      </p:sp>
      <p:sp>
        <p:nvSpPr>
          <p:cNvPr id="15" name="Shape 13"/>
          <p:cNvSpPr/>
          <p:nvPr/>
        </p:nvSpPr>
        <p:spPr>
          <a:xfrm>
            <a:off x="5266944" y="2011680"/>
            <a:ext cx="1965960" cy="2377440"/>
          </a:xfrm>
          <a:prstGeom prst="roundRect">
            <a:avLst>
              <a:gd name="adj" fmla="val 3721"/>
            </a:avLst>
          </a:prstGeom>
          <a:solidFill>
            <a:srgbClr val="FFFFFF"/>
          </a:solidFill>
          <a:ln/>
        </p:spPr>
      </p:sp>
      <p:sp>
        <p:nvSpPr>
          <p:cNvPr id="16" name="Shape 14"/>
          <p:cNvSpPr/>
          <p:nvPr/>
        </p:nvSpPr>
        <p:spPr>
          <a:xfrm>
            <a:off x="5980176" y="2286000"/>
            <a:ext cx="548640" cy="548640"/>
          </a:xfrm>
          <a:prstGeom prst="ellipse">
            <a:avLst/>
          </a:prstGeom>
          <a:solidFill>
            <a:srgbClr val="E0871E"/>
          </a:solidFill>
          <a:ln/>
        </p:spPr>
      </p:sp>
      <p:sp>
        <p:nvSpPr>
          <p:cNvPr id="17" name="Text 15"/>
          <p:cNvSpPr/>
          <p:nvPr/>
        </p:nvSpPr>
        <p:spPr>
          <a:xfrm>
            <a:off x="5266944" y="2350008"/>
            <a:ext cx="1965960" cy="457200"/>
          </a:xfrm>
          <a:prstGeom prst="rect">
            <a:avLst/>
          </a:prstGeom>
          <a:noFill/>
          <a:ln/>
        </p:spPr>
        <p:txBody>
          <a:bodyPr wrap="square" lIns="0" tIns="0" rIns="0" bIns="0" rtlCol="0" anchor="t"/>
          <a:lstStyle/>
          <a:p>
            <a:pPr marL="0" indent="0" algn="ctr">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8" name="Text 16"/>
          <p:cNvSpPr/>
          <p:nvPr/>
        </p:nvSpPr>
        <p:spPr>
          <a:xfrm>
            <a:off x="5312664" y="3063240"/>
            <a:ext cx="1874520" cy="365760"/>
          </a:xfrm>
          <a:prstGeom prst="rect">
            <a:avLst/>
          </a:prstGeom>
          <a:noFill/>
          <a:ln/>
        </p:spPr>
        <p:txBody>
          <a:bodyPr wrap="square" lIns="0" tIns="0" rIns="0" bIns="0" rtlCol="0" anchor="t"/>
          <a:lstStyle/>
          <a:p>
            <a:pPr marL="0" indent="0" algn="ctr">
              <a:buNone/>
            </a:pPr>
            <a:r>
              <a:rPr lang="en-US" sz="1500" b="1" dirty="0">
                <a:solidFill>
                  <a:srgbClr val="2C5F2D"/>
                </a:solidFill>
                <a:latin typeface="Cambria" pitchFamily="34" charset="0"/>
                <a:ea typeface="Cambria" pitchFamily="34" charset="-122"/>
                <a:cs typeface="Cambria" pitchFamily="34" charset="-120"/>
              </a:rPr>
              <a:t>Stress gate</a:t>
            </a:r>
            <a:endParaRPr lang="en-US" sz="1500" dirty="0"/>
          </a:p>
        </p:txBody>
      </p:sp>
      <p:sp>
        <p:nvSpPr>
          <p:cNvPr id="19" name="Text 17"/>
          <p:cNvSpPr/>
          <p:nvPr/>
        </p:nvSpPr>
        <p:spPr>
          <a:xfrm>
            <a:off x="5358384" y="3474720"/>
            <a:ext cx="1783080" cy="868680"/>
          </a:xfrm>
          <a:prstGeom prst="rect">
            <a:avLst/>
          </a:prstGeom>
          <a:noFill/>
          <a:ln/>
        </p:spPr>
        <p:txBody>
          <a:bodyPr wrap="square" lIns="0" tIns="0" rIns="0" bIns="0" rtlCol="0" anchor="t"/>
          <a:lstStyle/>
          <a:p>
            <a:pPr marL="0" indent="0" algn="ctr">
              <a:lnSpc>
                <a:spcPts val="1400"/>
              </a:lnSpc>
              <a:buNone/>
            </a:pPr>
            <a:r>
              <a:rPr lang="en-US" sz="1150" dirty="0">
                <a:solidFill>
                  <a:srgbClr val="5B6B57"/>
                </a:solidFill>
                <a:latin typeface="Calibri" pitchFamily="34" charset="0"/>
                <a:ea typeface="Calibri" pitchFamily="34" charset="-122"/>
                <a:cs typeface="Calibri" pitchFamily="34" charset="-120"/>
              </a:rPr>
              <a:t>play the game only if a market is stressed</a:t>
            </a:r>
            <a:endParaRPr lang="en-US" sz="1150" dirty="0"/>
          </a:p>
        </p:txBody>
      </p:sp>
      <p:sp>
        <p:nvSpPr>
          <p:cNvPr id="20" name="Shape 18"/>
          <p:cNvSpPr/>
          <p:nvPr/>
        </p:nvSpPr>
        <p:spPr>
          <a:xfrm>
            <a:off x="7242048" y="3063240"/>
            <a:ext cx="365760" cy="320040"/>
          </a:xfrm>
          <a:prstGeom prst="rightArrow">
            <a:avLst/>
          </a:prstGeom>
          <a:solidFill>
            <a:srgbClr val="97BC62"/>
          </a:solidFill>
          <a:ln/>
        </p:spPr>
      </p:sp>
      <p:sp>
        <p:nvSpPr>
          <p:cNvPr id="21" name="Shape 19"/>
          <p:cNvSpPr/>
          <p:nvPr/>
        </p:nvSpPr>
        <p:spPr>
          <a:xfrm>
            <a:off x="7580376" y="2011680"/>
            <a:ext cx="1965960" cy="2377440"/>
          </a:xfrm>
          <a:prstGeom prst="roundRect">
            <a:avLst>
              <a:gd name="adj" fmla="val 3721"/>
            </a:avLst>
          </a:prstGeom>
          <a:solidFill>
            <a:srgbClr val="FFFFFF"/>
          </a:solidFill>
          <a:ln/>
        </p:spPr>
      </p:sp>
      <p:sp>
        <p:nvSpPr>
          <p:cNvPr id="22" name="Shape 20"/>
          <p:cNvSpPr/>
          <p:nvPr/>
        </p:nvSpPr>
        <p:spPr>
          <a:xfrm>
            <a:off x="8293608" y="2286000"/>
            <a:ext cx="548640" cy="548640"/>
          </a:xfrm>
          <a:prstGeom prst="ellipse">
            <a:avLst/>
          </a:prstGeom>
          <a:solidFill>
            <a:srgbClr val="2C5F2D"/>
          </a:solidFill>
          <a:ln/>
        </p:spPr>
      </p:sp>
      <p:sp>
        <p:nvSpPr>
          <p:cNvPr id="23" name="Text 21"/>
          <p:cNvSpPr/>
          <p:nvPr/>
        </p:nvSpPr>
        <p:spPr>
          <a:xfrm>
            <a:off x="7580376" y="2350008"/>
            <a:ext cx="1965960" cy="457200"/>
          </a:xfrm>
          <a:prstGeom prst="rect">
            <a:avLst/>
          </a:prstGeom>
          <a:noFill/>
          <a:ln/>
        </p:spPr>
        <p:txBody>
          <a:bodyPr wrap="square" lIns="0" tIns="0" rIns="0" bIns="0" rtlCol="0" anchor="t"/>
          <a:lstStyle/>
          <a:p>
            <a:pPr marL="0" indent="0" algn="ctr">
              <a:buNone/>
            </a:pPr>
            <a:r>
              <a:rPr lang="en-US" sz="2400" b="1" dirty="0">
                <a:solidFill>
                  <a:srgbClr val="FFFFFF"/>
                </a:solidFill>
                <a:latin typeface="Cambria" pitchFamily="34" charset="0"/>
                <a:ea typeface="Cambria" pitchFamily="34" charset="-122"/>
                <a:cs typeface="Cambria" pitchFamily="34" charset="-120"/>
              </a:rPr>
              <a:t>4</a:t>
            </a:r>
            <a:endParaRPr lang="en-US" sz="2400" dirty="0"/>
          </a:p>
        </p:txBody>
      </p:sp>
      <p:sp>
        <p:nvSpPr>
          <p:cNvPr id="24" name="Text 22"/>
          <p:cNvSpPr/>
          <p:nvPr/>
        </p:nvSpPr>
        <p:spPr>
          <a:xfrm>
            <a:off x="7626096" y="3063240"/>
            <a:ext cx="1874520" cy="365760"/>
          </a:xfrm>
          <a:prstGeom prst="rect">
            <a:avLst/>
          </a:prstGeom>
          <a:noFill/>
          <a:ln/>
        </p:spPr>
        <p:txBody>
          <a:bodyPr wrap="square" lIns="0" tIns="0" rIns="0" bIns="0" rtlCol="0" anchor="t"/>
          <a:lstStyle/>
          <a:p>
            <a:pPr marL="0" indent="0" algn="ctr">
              <a:buNone/>
            </a:pPr>
            <a:r>
              <a:rPr lang="en-US" sz="1500" b="1" dirty="0">
                <a:solidFill>
                  <a:srgbClr val="2C5F2D"/>
                </a:solidFill>
                <a:latin typeface="Cambria" pitchFamily="34" charset="0"/>
                <a:ea typeface="Cambria" pitchFamily="34" charset="-122"/>
                <a:cs typeface="Cambria" pitchFamily="34" charset="-120"/>
              </a:rPr>
              <a:t>Clear</a:t>
            </a:r>
            <a:endParaRPr lang="en-US" sz="1500" dirty="0"/>
          </a:p>
        </p:txBody>
      </p:sp>
      <p:sp>
        <p:nvSpPr>
          <p:cNvPr id="25" name="Text 23"/>
          <p:cNvSpPr/>
          <p:nvPr/>
        </p:nvSpPr>
        <p:spPr>
          <a:xfrm>
            <a:off x="7671816" y="3474720"/>
            <a:ext cx="1783080" cy="868680"/>
          </a:xfrm>
          <a:prstGeom prst="rect">
            <a:avLst/>
          </a:prstGeom>
          <a:noFill/>
          <a:ln/>
        </p:spPr>
        <p:txBody>
          <a:bodyPr wrap="square" lIns="0" tIns="0" rIns="0" bIns="0" rtlCol="0" anchor="t"/>
          <a:lstStyle/>
          <a:p>
            <a:pPr marL="0" indent="0" algn="ctr">
              <a:lnSpc>
                <a:spcPts val="1400"/>
              </a:lnSpc>
              <a:buNone/>
            </a:pPr>
            <a:r>
              <a:rPr lang="en-US" sz="1150" dirty="0">
                <a:solidFill>
                  <a:srgbClr val="5B6B57"/>
                </a:solidFill>
                <a:latin typeface="Calibri" pitchFamily="34" charset="0"/>
                <a:ea typeface="Calibri" pitchFamily="34" charset="-122"/>
                <a:cs typeface="Calibri" pitchFamily="34" charset="-120"/>
              </a:rPr>
              <a:t>solve equilibrium (game) → prices, flows, D</a:t>
            </a:r>
            <a:endParaRPr lang="en-US" sz="1150" dirty="0"/>
          </a:p>
        </p:txBody>
      </p:sp>
      <p:sp>
        <p:nvSpPr>
          <p:cNvPr id="26" name="Shape 24"/>
          <p:cNvSpPr/>
          <p:nvPr/>
        </p:nvSpPr>
        <p:spPr>
          <a:xfrm>
            <a:off x="9555480" y="3063240"/>
            <a:ext cx="365760" cy="320040"/>
          </a:xfrm>
          <a:prstGeom prst="rightArrow">
            <a:avLst/>
          </a:prstGeom>
          <a:solidFill>
            <a:srgbClr val="97BC62"/>
          </a:solidFill>
          <a:ln/>
        </p:spPr>
      </p:sp>
      <p:sp>
        <p:nvSpPr>
          <p:cNvPr id="27" name="Shape 25"/>
          <p:cNvSpPr/>
          <p:nvPr/>
        </p:nvSpPr>
        <p:spPr>
          <a:xfrm>
            <a:off x="9893808" y="2011680"/>
            <a:ext cx="1965960" cy="2377440"/>
          </a:xfrm>
          <a:prstGeom prst="roundRect">
            <a:avLst>
              <a:gd name="adj" fmla="val 3721"/>
            </a:avLst>
          </a:prstGeom>
          <a:solidFill>
            <a:srgbClr val="FFFFFF"/>
          </a:solidFill>
          <a:ln/>
        </p:spPr>
      </p:sp>
      <p:sp>
        <p:nvSpPr>
          <p:cNvPr id="28" name="Shape 26"/>
          <p:cNvSpPr/>
          <p:nvPr/>
        </p:nvSpPr>
        <p:spPr>
          <a:xfrm>
            <a:off x="10607040" y="2286000"/>
            <a:ext cx="548640" cy="548640"/>
          </a:xfrm>
          <a:prstGeom prst="ellipse">
            <a:avLst/>
          </a:prstGeom>
          <a:solidFill>
            <a:srgbClr val="5E9E5A"/>
          </a:solidFill>
          <a:ln/>
        </p:spPr>
      </p:sp>
      <p:sp>
        <p:nvSpPr>
          <p:cNvPr id="29" name="Text 27"/>
          <p:cNvSpPr/>
          <p:nvPr/>
        </p:nvSpPr>
        <p:spPr>
          <a:xfrm>
            <a:off x="9893808" y="2350008"/>
            <a:ext cx="1965960" cy="457200"/>
          </a:xfrm>
          <a:prstGeom prst="rect">
            <a:avLst/>
          </a:prstGeom>
          <a:noFill/>
          <a:ln/>
        </p:spPr>
        <p:txBody>
          <a:bodyPr wrap="square" lIns="0" tIns="0" rIns="0" bIns="0" rtlCol="0" anchor="t"/>
          <a:lstStyle/>
          <a:p>
            <a:pPr marL="0" indent="0" algn="ctr">
              <a:buNone/>
            </a:pPr>
            <a:r>
              <a:rPr lang="en-US" sz="2400" b="1" dirty="0">
                <a:solidFill>
                  <a:srgbClr val="FFFFFF"/>
                </a:solidFill>
                <a:latin typeface="Cambria" pitchFamily="34" charset="0"/>
                <a:ea typeface="Cambria" pitchFamily="34" charset="-122"/>
                <a:cs typeface="Cambria" pitchFamily="34" charset="-120"/>
              </a:rPr>
              <a:t>5</a:t>
            </a:r>
            <a:endParaRPr lang="en-US" sz="2400" dirty="0"/>
          </a:p>
        </p:txBody>
      </p:sp>
      <p:sp>
        <p:nvSpPr>
          <p:cNvPr id="30" name="Text 28"/>
          <p:cNvSpPr/>
          <p:nvPr/>
        </p:nvSpPr>
        <p:spPr>
          <a:xfrm>
            <a:off x="9939528" y="3063240"/>
            <a:ext cx="1874520" cy="365760"/>
          </a:xfrm>
          <a:prstGeom prst="rect">
            <a:avLst/>
          </a:prstGeom>
          <a:noFill/>
          <a:ln/>
        </p:spPr>
        <p:txBody>
          <a:bodyPr wrap="square" lIns="0" tIns="0" rIns="0" bIns="0" rtlCol="0" anchor="t"/>
          <a:lstStyle/>
          <a:p>
            <a:pPr marL="0" indent="0" algn="ctr">
              <a:buNone/>
            </a:pPr>
            <a:r>
              <a:rPr lang="en-US" sz="1500" b="1" dirty="0">
                <a:solidFill>
                  <a:srgbClr val="2C5F2D"/>
                </a:solidFill>
                <a:latin typeface="Cambria" pitchFamily="34" charset="0"/>
                <a:ea typeface="Cambria" pitchFamily="34" charset="-122"/>
                <a:cs typeface="Cambria" pitchFamily="34" charset="-120"/>
              </a:rPr>
              <a:t>Update</a:t>
            </a:r>
            <a:endParaRPr lang="en-US" sz="1500" dirty="0"/>
          </a:p>
        </p:txBody>
      </p:sp>
      <p:sp>
        <p:nvSpPr>
          <p:cNvPr id="31" name="Text 29"/>
          <p:cNvSpPr/>
          <p:nvPr/>
        </p:nvSpPr>
        <p:spPr>
          <a:xfrm>
            <a:off x="9985248" y="3474720"/>
            <a:ext cx="1783080" cy="868680"/>
          </a:xfrm>
          <a:prstGeom prst="rect">
            <a:avLst/>
          </a:prstGeom>
          <a:noFill/>
          <a:ln/>
        </p:spPr>
        <p:txBody>
          <a:bodyPr wrap="square" lIns="0" tIns="0" rIns="0" bIns="0" rtlCol="0" anchor="t"/>
          <a:lstStyle/>
          <a:p>
            <a:pPr marL="0" indent="0" algn="ctr">
              <a:lnSpc>
                <a:spcPts val="1400"/>
              </a:lnSpc>
              <a:buNone/>
            </a:pPr>
            <a:r>
              <a:rPr lang="en-US" sz="1150" dirty="0">
                <a:solidFill>
                  <a:srgbClr val="5B6B57"/>
                </a:solidFill>
                <a:latin typeface="Calibri" pitchFamily="34" charset="0"/>
                <a:ea typeface="Calibri" pitchFamily="34" charset="-122"/>
                <a:cs typeface="Calibri" pitchFamily="34" charset="-120"/>
              </a:rPr>
              <a:t>carry reserves R and prices to next period</a:t>
            </a:r>
            <a:endParaRPr lang="en-US" sz="1150" dirty="0"/>
          </a:p>
        </p:txBody>
      </p:sp>
      <p:sp>
        <p:nvSpPr>
          <p:cNvPr id="32" name="Shape 30"/>
          <p:cNvSpPr/>
          <p:nvPr/>
        </p:nvSpPr>
        <p:spPr>
          <a:xfrm>
            <a:off x="640080" y="4937760"/>
            <a:ext cx="10881360" cy="914400"/>
          </a:xfrm>
          <a:prstGeom prst="roundRect">
            <a:avLst>
              <a:gd name="adj" fmla="val 8000"/>
            </a:avLst>
          </a:prstGeom>
          <a:solidFill>
            <a:srgbClr val="EEF3E9"/>
          </a:solidFill>
          <a:ln/>
        </p:spPr>
      </p:sp>
      <p:sp>
        <p:nvSpPr>
          <p:cNvPr id="33" name="Text 31"/>
          <p:cNvSpPr/>
          <p:nvPr/>
        </p:nvSpPr>
        <p:spPr>
          <a:xfrm>
            <a:off x="914400" y="5047488"/>
            <a:ext cx="10332720" cy="640080"/>
          </a:xfrm>
          <a:prstGeom prst="rect">
            <a:avLst/>
          </a:prstGeom>
          <a:noFill/>
          <a:ln/>
        </p:spPr>
        <p:txBody>
          <a:bodyPr wrap="square" lIns="0" tIns="0" rIns="0" bIns="0" rtlCol="0" anchor="t"/>
          <a:lstStyle/>
          <a:p>
            <a:pPr marL="0" indent="0" algn="l">
              <a:lnSpc>
                <a:spcPts val="1700"/>
              </a:lnSpc>
              <a:buNone/>
            </a:pPr>
            <a:r>
              <a:rPr lang="en-US" sz="1300" dirty="0">
                <a:solidFill>
                  <a:srgbClr val="2C5F2D"/>
                </a:solidFill>
                <a:latin typeface="Calibri" pitchFamily="34" charset="0"/>
                <a:ea typeface="Calibri" pitchFamily="34" charset="-122"/>
                <a:cs typeface="Calibri" pitchFamily="34" charset="-120"/>
              </a:rPr>
              <a:t>Shocks enter as production multipliers ξᵍᵢ(t); chokepoint disruptions as route multipliers ψᵢⱼ(t) — so a Hormuz or Black Sea closure uses the same machinery as a harvest failure.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3A22"/>
        </a:solidFill>
        <a:effectLst/>
      </p:bgPr>
    </p:bg>
    <p:spTree>
      <p:nvGrpSpPr>
        <p:cNvPr id="1" name=""/>
        <p:cNvGrpSpPr/>
        <p:nvPr/>
      </p:nvGrpSpPr>
      <p:grpSpPr>
        <a:xfrm>
          <a:off x="0" y="0"/>
          <a:ext cx="0" cy="0"/>
          <a:chOff x="0" y="0"/>
          <a:chExt cx="0" cy="0"/>
        </a:xfrm>
      </p:grpSpPr>
      <p:sp>
        <p:nvSpPr>
          <p:cNvPr id="2" name="Text 0"/>
          <p:cNvSpPr/>
          <p:nvPr/>
        </p:nvSpPr>
        <p:spPr>
          <a:xfrm>
            <a:off x="640080" y="457200"/>
            <a:ext cx="10972800" cy="731520"/>
          </a:xfrm>
          <a:prstGeom prst="rect">
            <a:avLst/>
          </a:prstGeom>
          <a:noFill/>
          <a:ln/>
        </p:spPr>
        <p:txBody>
          <a:bodyPr wrap="square" lIns="0" tIns="0" rIns="0" bIns="0" rtlCol="0" anchor="t"/>
          <a:lstStyle/>
          <a:p>
            <a:pPr marL="0" indent="0" algn="l">
              <a:buNone/>
            </a:pPr>
            <a:r>
              <a:rPr lang="en-US" sz="3200" b="1" dirty="0">
                <a:solidFill>
                  <a:srgbClr val="F7F5EF"/>
                </a:solidFill>
                <a:latin typeface="Cambria" pitchFamily="34" charset="0"/>
                <a:ea typeface="Cambria" pitchFamily="34" charset="-122"/>
                <a:cs typeface="Cambria" pitchFamily="34" charset="-120"/>
              </a:rPr>
              <a:t>Step 6 — The headline result</a:t>
            </a:r>
            <a:endParaRPr lang="en-US" sz="3200" dirty="0"/>
          </a:p>
        </p:txBody>
      </p:sp>
      <p:sp>
        <p:nvSpPr>
          <p:cNvPr id="3" name="Text 1"/>
          <p:cNvSpPr/>
          <p:nvPr/>
        </p:nvSpPr>
        <p:spPr>
          <a:xfrm>
            <a:off x="640080" y="1188720"/>
            <a:ext cx="6766560" cy="1097280"/>
          </a:xfrm>
          <a:prstGeom prst="rect">
            <a:avLst/>
          </a:prstGeom>
          <a:noFill/>
          <a:ln/>
        </p:spPr>
        <p:txBody>
          <a:bodyPr wrap="square" lIns="0" tIns="0" rIns="0" bIns="0" rtlCol="0" anchor="t"/>
          <a:lstStyle/>
          <a:p>
            <a:pPr marL="0" indent="0" algn="l">
              <a:lnSpc>
                <a:spcPts val="1900"/>
              </a:lnSpc>
              <a:buNone/>
            </a:pPr>
            <a:r>
              <a:rPr lang="en-US" sz="1500" dirty="0">
                <a:solidFill>
                  <a:srgbClr val="97BC62"/>
                </a:solidFill>
                <a:latin typeface="Calibri" pitchFamily="34" charset="0"/>
                <a:ea typeface="Calibri" pitchFamily="34" charset="-122"/>
                <a:cs typeface="Calibri" pitchFamily="34" charset="-120"/>
              </a:rPr>
              <a:t>Set σ = 0 and SHEAF separates into independent single-commodity markets — exactly the TWIST / Agrimate class. Those models are the zero-substitution boundary of SHEAF.</a:t>
            </a:r>
            <a:endParaRPr lang="en-US" sz="1500" dirty="0"/>
          </a:p>
        </p:txBody>
      </p:sp>
      <p:sp>
        <p:nvSpPr>
          <p:cNvPr id="4" name="Shape 2"/>
          <p:cNvSpPr/>
          <p:nvPr/>
        </p:nvSpPr>
        <p:spPr>
          <a:xfrm>
            <a:off x="640080" y="2468880"/>
            <a:ext cx="6766560" cy="914400"/>
          </a:xfrm>
          <a:prstGeom prst="roundRect">
            <a:avLst>
              <a:gd name="adj" fmla="val 8000"/>
            </a:avLst>
          </a:prstGeom>
          <a:solidFill>
            <a:srgbClr val="25482A"/>
          </a:solidFill>
          <a:ln/>
        </p:spPr>
      </p:sp>
      <p:pic>
        <p:nvPicPr>
          <p:cNvPr id="5" name="Image 0" descr="/home/claude/deck_assets/eq_limit.png"/>
          <p:cNvPicPr>
            <a:picLocks noChangeAspect="1"/>
          </p:cNvPicPr>
          <p:nvPr/>
        </p:nvPicPr>
        <p:blipFill>
          <a:blip r:embed="rId3"/>
          <a:srcRect/>
          <a:stretch/>
        </p:blipFill>
        <p:spPr>
          <a:xfrm>
            <a:off x="868680" y="2606040"/>
            <a:ext cx="6400800" cy="658368"/>
          </a:xfrm>
          <a:prstGeom prst="rect">
            <a:avLst/>
          </a:prstGeom>
        </p:spPr>
      </p:pic>
      <p:sp>
        <p:nvSpPr>
          <p:cNvPr id="6" name="Shape 3"/>
          <p:cNvSpPr/>
          <p:nvPr/>
        </p:nvSpPr>
        <p:spPr>
          <a:xfrm>
            <a:off x="640080" y="2468880"/>
            <a:ext cx="6766560" cy="914400"/>
          </a:xfrm>
          <a:prstGeom prst="roundRect">
            <a:avLst>
              <a:gd name="adj" fmla="val 6000"/>
            </a:avLst>
          </a:prstGeom>
          <a:solidFill>
            <a:srgbClr val="F7F5EF"/>
          </a:solidFill>
          <a:ln/>
        </p:spPr>
      </p:sp>
      <p:pic>
        <p:nvPicPr>
          <p:cNvPr id="7" name="Image 1" descr="/home/claude/deck_assets/eq_limit.png"/>
          <p:cNvPicPr>
            <a:picLocks noChangeAspect="1"/>
          </p:cNvPicPr>
          <p:nvPr/>
        </p:nvPicPr>
        <p:blipFill>
          <a:blip r:embed="rId3"/>
          <a:srcRect/>
          <a:stretch/>
        </p:blipFill>
        <p:spPr>
          <a:xfrm>
            <a:off x="868680" y="2606040"/>
            <a:ext cx="6400800" cy="658368"/>
          </a:xfrm>
          <a:prstGeom prst="rect">
            <a:avLst/>
          </a:prstGeom>
        </p:spPr>
      </p:pic>
      <p:sp>
        <p:nvSpPr>
          <p:cNvPr id="8" name="Text 4"/>
          <p:cNvSpPr/>
          <p:nvPr/>
        </p:nvSpPr>
        <p:spPr>
          <a:xfrm>
            <a:off x="640080" y="3657600"/>
            <a:ext cx="6766560" cy="457200"/>
          </a:xfrm>
          <a:prstGeom prst="rect">
            <a:avLst/>
          </a:prstGeom>
          <a:noFill/>
          <a:ln/>
        </p:spPr>
        <p:txBody>
          <a:bodyPr wrap="square" lIns="0" tIns="0" rIns="0" bIns="0" rtlCol="0" anchor="t"/>
          <a:lstStyle/>
          <a:p>
            <a:pPr marL="0" indent="0" algn="l">
              <a:buNone/>
            </a:pPr>
            <a:r>
              <a:rPr lang="en-US" sz="1400" dirty="0">
                <a:solidFill>
                  <a:srgbClr val="F7F5EF"/>
                </a:solidFill>
                <a:latin typeface="Calibri" pitchFamily="34" charset="0"/>
                <a:ea typeface="Calibri" pitchFamily="34" charset="-122"/>
                <a:cs typeface="Calibri" pitchFamily="34" charset="-120"/>
              </a:rPr>
              <a:t>A Black Sea wheat shock, measured as the shock-induced price change:</a:t>
            </a:r>
            <a:endParaRPr lang="en-US" sz="1400" dirty="0"/>
          </a:p>
        </p:txBody>
      </p:sp>
      <p:sp>
        <p:nvSpPr>
          <p:cNvPr id="9" name="Text 5"/>
          <p:cNvSpPr/>
          <p:nvPr/>
        </p:nvSpPr>
        <p:spPr>
          <a:xfrm>
            <a:off x="640080" y="4297680"/>
            <a:ext cx="6766560" cy="1005840"/>
          </a:xfrm>
          <a:prstGeom prst="rect">
            <a:avLst/>
          </a:prstGeom>
          <a:noFill/>
          <a:ln/>
        </p:spPr>
        <p:txBody>
          <a:bodyPr wrap="square" lIns="0" tIns="0" rIns="0" bIns="0" rtlCol="0" anchor="t"/>
          <a:lstStyle/>
          <a:p>
            <a:pPr marL="0" indent="0" algn="l">
              <a:lnSpc>
                <a:spcPts val="1700"/>
              </a:lnSpc>
              <a:buNone/>
            </a:pPr>
            <a:r>
              <a:rPr lang="en-US" sz="1300" i="1" dirty="0">
                <a:solidFill>
                  <a:srgbClr val="97BC62"/>
                </a:solidFill>
                <a:latin typeface="Calibri" pitchFamily="34" charset="0"/>
                <a:ea typeface="Calibri" pitchFamily="34" charset="-122"/>
                <a:cs typeface="Calibri" pitchFamily="34" charset="-120"/>
              </a:rPr>
              <a:t>Without substitution, rice and maize don't move. With it, the shock spills across grains — a signal single-commodity models structurally cannot produce.</a:t>
            </a:r>
            <a:endParaRPr lang="en-US" sz="1300" dirty="0"/>
          </a:p>
        </p:txBody>
      </p:sp>
      <p:graphicFrame>
        <p:nvGraphicFramePr>
          <p:cNvPr id="10" name="Chart 0"/>
          <p:cNvGraphicFramePr/>
          <p:nvPr/>
        </p:nvGraphicFramePr>
        <p:xfrm>
          <a:off x="7680960" y="1371600"/>
          <a:ext cx="4023360" cy="475488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640080" y="457200"/>
            <a:ext cx="10972800" cy="731520"/>
          </a:xfrm>
          <a:prstGeom prst="rect">
            <a:avLst/>
          </a:prstGeom>
          <a:noFill/>
          <a:ln/>
        </p:spPr>
        <p:txBody>
          <a:bodyPr wrap="square" lIns="0" tIns="0" rIns="0" bIns="0" rtlCol="0" anchor="t"/>
          <a:lstStyle/>
          <a:p>
            <a:pPr marL="0" indent="0" algn="l">
              <a:buNone/>
            </a:pPr>
            <a:r>
              <a:rPr lang="en-US" sz="3100" b="1" dirty="0">
                <a:solidFill>
                  <a:srgbClr val="2C5F2D"/>
                </a:solidFill>
                <a:latin typeface="Cambria" pitchFamily="34" charset="0"/>
                <a:ea typeface="Cambria" pitchFamily="34" charset="-122"/>
                <a:cs typeface="Cambria" pitchFamily="34" charset="-120"/>
              </a:rPr>
              <a:t>Vetting it: the 2007/08 &amp; 2010/11 crises</a:t>
            </a:r>
            <a:endParaRPr lang="en-US" sz="3100" dirty="0"/>
          </a:p>
        </p:txBody>
      </p:sp>
      <p:sp>
        <p:nvSpPr>
          <p:cNvPr id="3" name="Shape 1"/>
          <p:cNvSpPr/>
          <p:nvPr/>
        </p:nvSpPr>
        <p:spPr>
          <a:xfrm>
            <a:off x="640080" y="1463040"/>
            <a:ext cx="5349240" cy="2743200"/>
          </a:xfrm>
          <a:prstGeom prst="roundRect">
            <a:avLst>
              <a:gd name="adj" fmla="val 2667"/>
            </a:avLst>
          </a:prstGeom>
          <a:solidFill>
            <a:srgbClr val="FFFFFF"/>
          </a:solidFill>
          <a:ln/>
        </p:spPr>
      </p:sp>
      <p:sp>
        <p:nvSpPr>
          <p:cNvPr id="4" name="Shape 2"/>
          <p:cNvSpPr/>
          <p:nvPr/>
        </p:nvSpPr>
        <p:spPr>
          <a:xfrm>
            <a:off x="640080" y="1463040"/>
            <a:ext cx="109728" cy="2743200"/>
          </a:xfrm>
          <a:prstGeom prst="rect">
            <a:avLst/>
          </a:prstGeom>
          <a:solidFill>
            <a:srgbClr val="97BC62"/>
          </a:solidFill>
          <a:ln/>
        </p:spPr>
      </p:sp>
      <p:sp>
        <p:nvSpPr>
          <p:cNvPr id="5" name="Text 3"/>
          <p:cNvSpPr/>
          <p:nvPr/>
        </p:nvSpPr>
        <p:spPr>
          <a:xfrm>
            <a:off x="914400" y="1645920"/>
            <a:ext cx="4937760" cy="411480"/>
          </a:xfrm>
          <a:prstGeom prst="rect">
            <a:avLst/>
          </a:prstGeom>
          <a:noFill/>
          <a:ln/>
        </p:spPr>
        <p:txBody>
          <a:bodyPr wrap="square" lIns="0" tIns="0" rIns="0" bIns="0" rtlCol="0" anchor="t"/>
          <a:lstStyle/>
          <a:p>
            <a:pPr marL="0" indent="0" algn="l">
              <a:buNone/>
            </a:pPr>
            <a:r>
              <a:rPr lang="en-US" sz="1800" b="1" dirty="0">
                <a:solidFill>
                  <a:srgbClr val="2C5F2D"/>
                </a:solidFill>
                <a:latin typeface="Cambria" pitchFamily="34" charset="0"/>
                <a:ea typeface="Cambria" pitchFamily="34" charset="-122"/>
                <a:cs typeface="Cambria" pitchFamily="34" charset="-120"/>
              </a:rPr>
              <a:t>Level 1 — Reproduction</a:t>
            </a:r>
            <a:endParaRPr lang="en-US" sz="1800" dirty="0"/>
          </a:p>
        </p:txBody>
      </p:sp>
      <p:sp>
        <p:nvSpPr>
          <p:cNvPr id="6" name="Text 4"/>
          <p:cNvSpPr/>
          <p:nvPr/>
        </p:nvSpPr>
        <p:spPr>
          <a:xfrm>
            <a:off x="914400" y="2148840"/>
            <a:ext cx="4937760" cy="1828800"/>
          </a:xfrm>
          <a:prstGeom prst="rect">
            <a:avLst/>
          </a:prstGeom>
          <a:noFill/>
          <a:ln/>
        </p:spPr>
        <p:txBody>
          <a:bodyPr wrap="square" lIns="0" tIns="0" rIns="0" bIns="0" rtlCol="0" anchor="t"/>
          <a:lstStyle/>
          <a:p>
            <a:pPr marL="0" indent="0" algn="l">
              <a:lnSpc>
                <a:spcPts val="1800"/>
              </a:lnSpc>
              <a:buNone/>
            </a:pPr>
            <a:r>
              <a:rPr lang="en-US" sz="1300" dirty="0">
                <a:solidFill>
                  <a:srgbClr val="5B6B57"/>
                </a:solidFill>
                <a:latin typeface="Calibri" pitchFamily="34" charset="0"/>
                <a:ea typeface="Calibri" pitchFamily="34" charset="-122"/>
                <a:cs typeface="Calibri" pitchFamily="34" charset="-120"/>
              </a:rPr>
              <a:t>Impose the observed restrictions (as Agrimate does) and match the annual price hike and the production-vs-restriction split. Tests the market + storage core.</a:t>
            </a:r>
            <a:endParaRPr lang="en-US" sz="1300" dirty="0"/>
          </a:p>
        </p:txBody>
      </p:sp>
      <p:sp>
        <p:nvSpPr>
          <p:cNvPr id="7" name="Shape 5"/>
          <p:cNvSpPr/>
          <p:nvPr/>
        </p:nvSpPr>
        <p:spPr>
          <a:xfrm>
            <a:off x="6172200" y="1463040"/>
            <a:ext cx="5349240" cy="2743200"/>
          </a:xfrm>
          <a:prstGeom prst="roundRect">
            <a:avLst>
              <a:gd name="adj" fmla="val 2667"/>
            </a:avLst>
          </a:prstGeom>
          <a:solidFill>
            <a:srgbClr val="FFFFFF"/>
          </a:solidFill>
          <a:ln/>
        </p:spPr>
      </p:sp>
      <p:sp>
        <p:nvSpPr>
          <p:cNvPr id="8" name="Shape 6"/>
          <p:cNvSpPr/>
          <p:nvPr/>
        </p:nvSpPr>
        <p:spPr>
          <a:xfrm>
            <a:off x="6172200" y="1463040"/>
            <a:ext cx="109728" cy="2743200"/>
          </a:xfrm>
          <a:prstGeom prst="rect">
            <a:avLst/>
          </a:prstGeom>
          <a:solidFill>
            <a:srgbClr val="D8A72A"/>
          </a:solidFill>
          <a:ln/>
        </p:spPr>
      </p:sp>
      <p:sp>
        <p:nvSpPr>
          <p:cNvPr id="9" name="Text 7"/>
          <p:cNvSpPr/>
          <p:nvPr/>
        </p:nvSpPr>
        <p:spPr>
          <a:xfrm>
            <a:off x="6446520" y="1645920"/>
            <a:ext cx="4937760" cy="411480"/>
          </a:xfrm>
          <a:prstGeom prst="rect">
            <a:avLst/>
          </a:prstGeom>
          <a:noFill/>
          <a:ln/>
        </p:spPr>
        <p:txBody>
          <a:bodyPr wrap="square" lIns="0" tIns="0" rIns="0" bIns="0" rtlCol="0" anchor="t"/>
          <a:lstStyle/>
          <a:p>
            <a:pPr marL="0" indent="0" algn="l">
              <a:buNone/>
            </a:pPr>
            <a:r>
              <a:rPr lang="en-US" sz="1800" b="1" dirty="0">
                <a:solidFill>
                  <a:srgbClr val="2C5F2D"/>
                </a:solidFill>
                <a:latin typeface="Cambria" pitchFamily="34" charset="0"/>
                <a:ea typeface="Cambria" pitchFamily="34" charset="-122"/>
                <a:cs typeface="Cambria" pitchFamily="34" charset="-120"/>
              </a:rPr>
              <a:t>Level 2 — Endogenous (SHEAF only)</a:t>
            </a:r>
            <a:endParaRPr lang="en-US" sz="1800" dirty="0"/>
          </a:p>
        </p:txBody>
      </p:sp>
      <p:sp>
        <p:nvSpPr>
          <p:cNvPr id="10" name="Text 8"/>
          <p:cNvSpPr/>
          <p:nvPr/>
        </p:nvSpPr>
        <p:spPr>
          <a:xfrm>
            <a:off x="6446520" y="2148840"/>
            <a:ext cx="4937760" cy="1828800"/>
          </a:xfrm>
          <a:prstGeom prst="rect">
            <a:avLst/>
          </a:prstGeom>
          <a:noFill/>
          <a:ln/>
        </p:spPr>
        <p:txBody>
          <a:bodyPr wrap="square" lIns="0" tIns="0" rIns="0" bIns="0" rtlCol="0" anchor="t"/>
          <a:lstStyle/>
          <a:p>
            <a:pPr marL="0" indent="0" algn="l">
              <a:lnSpc>
                <a:spcPts val="1800"/>
              </a:lnSpc>
              <a:buNone/>
            </a:pPr>
            <a:r>
              <a:rPr lang="en-US" sz="1300" dirty="0">
                <a:solidFill>
                  <a:srgbClr val="5B6B57"/>
                </a:solidFill>
                <a:latin typeface="Calibri" pitchFamily="34" charset="0"/>
                <a:ea typeface="Calibri" pitchFamily="34" charset="-122"/>
                <a:cs typeface="Calibri" pitchFamily="34" charset="-120"/>
              </a:rPr>
              <a:t>Give it only the production anomalies and let the game choose restrictions. Does it predict who bans (Russia, Ukraine, …), and the prices? Neither Agrimate nor TWIST can be scored on this.</a:t>
            </a:r>
            <a:endParaRPr lang="en-US" sz="1300" dirty="0"/>
          </a:p>
        </p:txBody>
      </p:sp>
      <p:sp>
        <p:nvSpPr>
          <p:cNvPr id="11" name="Shape 9"/>
          <p:cNvSpPr/>
          <p:nvPr/>
        </p:nvSpPr>
        <p:spPr>
          <a:xfrm>
            <a:off x="640080" y="4434840"/>
            <a:ext cx="10881360" cy="1737360"/>
          </a:xfrm>
          <a:prstGeom prst="roundRect">
            <a:avLst>
              <a:gd name="adj" fmla="val 4211"/>
            </a:avLst>
          </a:prstGeom>
          <a:solidFill>
            <a:srgbClr val="EEF3E9"/>
          </a:solidFill>
          <a:ln/>
        </p:spPr>
      </p:sp>
      <p:sp>
        <p:nvSpPr>
          <p:cNvPr id="12" name="Text 10"/>
          <p:cNvSpPr/>
          <p:nvPr/>
        </p:nvSpPr>
        <p:spPr>
          <a:xfrm>
            <a:off x="914400" y="4553712"/>
            <a:ext cx="10332720" cy="365760"/>
          </a:xfrm>
          <a:prstGeom prst="rect">
            <a:avLst/>
          </a:prstGeom>
          <a:noFill/>
          <a:ln/>
        </p:spPr>
        <p:txBody>
          <a:bodyPr wrap="square" lIns="0" tIns="0" rIns="0" bIns="0" rtlCol="0" anchor="t"/>
          <a:lstStyle/>
          <a:p>
            <a:pPr marL="0" indent="0" algn="l">
              <a:buNone/>
            </a:pPr>
            <a:r>
              <a:rPr lang="en-US" sz="1500" b="1" dirty="0">
                <a:solidFill>
                  <a:srgbClr val="2C5F2D"/>
                </a:solidFill>
                <a:latin typeface="Cambria" pitchFamily="34" charset="0"/>
                <a:ea typeface="Cambria" pitchFamily="34" charset="-122"/>
                <a:cs typeface="Cambria" pitchFamily="34" charset="-120"/>
              </a:rPr>
              <a:t>Data alignment (already wired in)</a:t>
            </a:r>
            <a:endParaRPr lang="en-US" sz="1500" dirty="0"/>
          </a:p>
        </p:txBody>
      </p:sp>
      <p:sp>
        <p:nvSpPr>
          <p:cNvPr id="13" name="Text 11"/>
          <p:cNvSpPr/>
          <p:nvPr/>
        </p:nvSpPr>
        <p:spPr>
          <a:xfrm>
            <a:off x="914400" y="4956048"/>
            <a:ext cx="10332720" cy="320040"/>
          </a:xfrm>
          <a:prstGeom prst="rect">
            <a:avLst/>
          </a:prstGeom>
          <a:noFill/>
          <a:ln/>
        </p:spPr>
        <p:txBody>
          <a:bodyPr wrap="square" lIns="0" tIns="0" rIns="0" bIns="0" rtlCol="0" anchor="t"/>
          <a:lstStyle/>
          <a:p>
            <a:pPr marL="0" indent="0" algn="l">
              <a:buNone/>
            </a:pPr>
            <a:r>
              <a:rPr lang="en-US" sz="1250" dirty="0">
                <a:solidFill>
                  <a:srgbClr val="5B6B57"/>
                </a:solidFill>
                <a:latin typeface="Calibri" pitchFamily="34" charset="0"/>
                <a:ea typeface="Calibri" pitchFamily="34" charset="-122"/>
                <a:cs typeface="Calibri" pitchFamily="34" charset="-120"/>
              </a:rPr>
              <a:t>• Production, consumption, reserves + detrended anomalies → USDA PSD  (AgRichter Scale repo)</a:t>
            </a:r>
            <a:endParaRPr lang="en-US" sz="1250" dirty="0"/>
          </a:p>
        </p:txBody>
      </p:sp>
      <p:sp>
        <p:nvSpPr>
          <p:cNvPr id="14" name="Text 12"/>
          <p:cNvSpPr/>
          <p:nvPr/>
        </p:nvSpPr>
        <p:spPr>
          <a:xfrm>
            <a:off x="914400" y="5303520"/>
            <a:ext cx="10332720" cy="320040"/>
          </a:xfrm>
          <a:prstGeom prst="rect">
            <a:avLst/>
          </a:prstGeom>
          <a:noFill/>
          <a:ln/>
        </p:spPr>
        <p:txBody>
          <a:bodyPr wrap="square" lIns="0" tIns="0" rIns="0" bIns="0" rtlCol="0" anchor="t"/>
          <a:lstStyle/>
          <a:p>
            <a:pPr marL="0" indent="0" algn="l">
              <a:buNone/>
            </a:pPr>
            <a:r>
              <a:rPr lang="en-US" sz="1250" dirty="0">
                <a:solidFill>
                  <a:srgbClr val="5B6B57"/>
                </a:solidFill>
                <a:latin typeface="Calibri" pitchFamily="34" charset="0"/>
                <a:ea typeface="Calibri" pitchFamily="34" charset="-122"/>
                <a:cs typeface="Calibri" pitchFamily="34" charset="-120"/>
              </a:rPr>
              <a:t>• Bilateral trade network E0 (incl. the 2006–07 and 2010–11 crisis networks) → FAOSTAT  (FoodTradeNetwork repo)</a:t>
            </a:r>
            <a:endParaRPr lang="en-US" sz="1250" dirty="0"/>
          </a:p>
        </p:txBody>
      </p:sp>
      <p:sp>
        <p:nvSpPr>
          <p:cNvPr id="15" name="Text 13"/>
          <p:cNvSpPr/>
          <p:nvPr/>
        </p:nvSpPr>
        <p:spPr>
          <a:xfrm>
            <a:off x="914400" y="5650992"/>
            <a:ext cx="10332720" cy="320040"/>
          </a:xfrm>
          <a:prstGeom prst="rect">
            <a:avLst/>
          </a:prstGeom>
          <a:noFill/>
          <a:ln/>
        </p:spPr>
        <p:txBody>
          <a:bodyPr wrap="square" lIns="0" tIns="0" rIns="0" bIns="0" rtlCol="0" anchor="t"/>
          <a:lstStyle/>
          <a:p>
            <a:pPr marL="0" indent="0" algn="l">
              <a:buNone/>
            </a:pPr>
            <a:r>
              <a:rPr lang="en-US" sz="1250" dirty="0">
                <a:solidFill>
                  <a:srgbClr val="5B6B57"/>
                </a:solidFill>
                <a:latin typeface="Calibri" pitchFamily="34" charset="0"/>
                <a:ea typeface="Calibri" pitchFamily="34" charset="-122"/>
                <a:cs typeface="Calibri" pitchFamily="34" charset="-120"/>
              </a:rPr>
              <a:t>• Still to add: per-country PSD, the AMIS restriction timeline (Level-2 ground truth)</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640080" y="457200"/>
            <a:ext cx="10972800" cy="731520"/>
          </a:xfrm>
          <a:prstGeom prst="rect">
            <a:avLst/>
          </a:prstGeom>
          <a:noFill/>
          <a:ln/>
        </p:spPr>
        <p:txBody>
          <a:bodyPr wrap="square" lIns="0" tIns="0" rIns="0" bIns="0" rtlCol="0" anchor="t"/>
          <a:lstStyle/>
          <a:p>
            <a:pPr marL="0" indent="0" algn="l">
              <a:buNone/>
            </a:pPr>
            <a:r>
              <a:rPr lang="en-US" sz="3400" b="1" dirty="0">
                <a:solidFill>
                  <a:srgbClr val="2C5F2D"/>
                </a:solidFill>
                <a:latin typeface="Cambria" pitchFamily="34" charset="0"/>
                <a:ea typeface="Cambria" pitchFamily="34" charset="-122"/>
                <a:cs typeface="Cambria" pitchFamily="34" charset="-120"/>
              </a:rPr>
              <a:t>Where SHEAF sits</a:t>
            </a:r>
            <a:endParaRPr lang="en-US" sz="3400" dirty="0"/>
          </a:p>
        </p:txBody>
      </p:sp>
      <p:sp>
        <p:nvSpPr>
          <p:cNvPr id="3" name="Shape 1"/>
          <p:cNvSpPr/>
          <p:nvPr/>
        </p:nvSpPr>
        <p:spPr>
          <a:xfrm>
            <a:off x="640080" y="1554480"/>
            <a:ext cx="4846320" cy="658368"/>
          </a:xfrm>
          <a:prstGeom prst="rect">
            <a:avLst/>
          </a:prstGeom>
          <a:solidFill>
            <a:srgbClr val="E7ECE1"/>
          </a:solidFill>
          <a:ln w="12700">
            <a:solidFill>
              <a:srgbClr val="DFE5D8"/>
            </a:solidFill>
            <a:prstDash val="solid"/>
          </a:ln>
        </p:spPr>
      </p:sp>
      <p:sp>
        <p:nvSpPr>
          <p:cNvPr id="4" name="Text 2"/>
          <p:cNvSpPr/>
          <p:nvPr/>
        </p:nvSpPr>
        <p:spPr>
          <a:xfrm>
            <a:off x="777240" y="1700784"/>
            <a:ext cx="4663440" cy="365760"/>
          </a:xfrm>
          <a:prstGeom prst="rect">
            <a:avLst/>
          </a:prstGeom>
          <a:noFill/>
          <a:ln/>
        </p:spPr>
        <p:txBody>
          <a:bodyPr wrap="square" lIns="0" tIns="0" rIns="0" bIns="0" rtlCol="0" anchor="t"/>
          <a:lstStyle/>
          <a:p>
            <a:pPr marL="0" indent="0" algn="l">
              <a:buNone/>
            </a:pPr>
            <a:endParaRPr lang="en-US" sz="1500" dirty="0"/>
          </a:p>
        </p:txBody>
      </p:sp>
      <p:sp>
        <p:nvSpPr>
          <p:cNvPr id="5" name="Shape 3"/>
          <p:cNvSpPr/>
          <p:nvPr/>
        </p:nvSpPr>
        <p:spPr>
          <a:xfrm>
            <a:off x="5486400" y="1554480"/>
            <a:ext cx="1965960" cy="658368"/>
          </a:xfrm>
          <a:prstGeom prst="rect">
            <a:avLst/>
          </a:prstGeom>
          <a:solidFill>
            <a:srgbClr val="E7ECE1"/>
          </a:solidFill>
          <a:ln w="12700">
            <a:solidFill>
              <a:srgbClr val="DFE5D8"/>
            </a:solidFill>
            <a:prstDash val="solid"/>
          </a:ln>
        </p:spPr>
      </p:sp>
      <p:sp>
        <p:nvSpPr>
          <p:cNvPr id="6" name="Text 4"/>
          <p:cNvSpPr/>
          <p:nvPr/>
        </p:nvSpPr>
        <p:spPr>
          <a:xfrm>
            <a:off x="5486400" y="1700784"/>
            <a:ext cx="1965960" cy="365760"/>
          </a:xfrm>
          <a:prstGeom prst="rect">
            <a:avLst/>
          </a:prstGeom>
          <a:noFill/>
          <a:ln/>
        </p:spPr>
        <p:txBody>
          <a:bodyPr wrap="square" lIns="0" tIns="0" rIns="0" bIns="0" rtlCol="0" anchor="t"/>
          <a:lstStyle/>
          <a:p>
            <a:pPr marL="0" indent="0" algn="ctr">
              <a:buNone/>
            </a:pPr>
            <a:r>
              <a:rPr lang="en-US" sz="1500" b="1" dirty="0">
                <a:solidFill>
                  <a:srgbClr val="2C5F2D"/>
                </a:solidFill>
                <a:latin typeface="Calibri" pitchFamily="34" charset="0"/>
                <a:ea typeface="Calibri" pitchFamily="34" charset="-122"/>
                <a:cs typeface="Calibri" pitchFamily="34" charset="-120"/>
              </a:rPr>
              <a:t>TWIST</a:t>
            </a:r>
            <a:endParaRPr lang="en-US" sz="1500" dirty="0"/>
          </a:p>
        </p:txBody>
      </p:sp>
      <p:sp>
        <p:nvSpPr>
          <p:cNvPr id="7" name="Shape 5"/>
          <p:cNvSpPr/>
          <p:nvPr/>
        </p:nvSpPr>
        <p:spPr>
          <a:xfrm>
            <a:off x="7452360" y="1554480"/>
            <a:ext cx="1965960" cy="658368"/>
          </a:xfrm>
          <a:prstGeom prst="rect">
            <a:avLst/>
          </a:prstGeom>
          <a:solidFill>
            <a:srgbClr val="E7ECE1"/>
          </a:solidFill>
          <a:ln w="12700">
            <a:solidFill>
              <a:srgbClr val="DFE5D8"/>
            </a:solidFill>
            <a:prstDash val="solid"/>
          </a:ln>
        </p:spPr>
      </p:sp>
      <p:sp>
        <p:nvSpPr>
          <p:cNvPr id="8" name="Text 6"/>
          <p:cNvSpPr/>
          <p:nvPr/>
        </p:nvSpPr>
        <p:spPr>
          <a:xfrm>
            <a:off x="7452360" y="1700784"/>
            <a:ext cx="1965960" cy="365760"/>
          </a:xfrm>
          <a:prstGeom prst="rect">
            <a:avLst/>
          </a:prstGeom>
          <a:noFill/>
          <a:ln/>
        </p:spPr>
        <p:txBody>
          <a:bodyPr wrap="square" lIns="0" tIns="0" rIns="0" bIns="0" rtlCol="0" anchor="t"/>
          <a:lstStyle/>
          <a:p>
            <a:pPr marL="0" indent="0" algn="ctr">
              <a:buNone/>
            </a:pPr>
            <a:r>
              <a:rPr lang="en-US" sz="1500" b="1" dirty="0">
                <a:solidFill>
                  <a:srgbClr val="2C5F2D"/>
                </a:solidFill>
                <a:latin typeface="Calibri" pitchFamily="34" charset="0"/>
                <a:ea typeface="Calibri" pitchFamily="34" charset="-122"/>
                <a:cs typeface="Calibri" pitchFamily="34" charset="-120"/>
              </a:rPr>
              <a:t>Agrimate</a:t>
            </a:r>
            <a:endParaRPr lang="en-US" sz="1500" dirty="0"/>
          </a:p>
        </p:txBody>
      </p:sp>
      <p:sp>
        <p:nvSpPr>
          <p:cNvPr id="9" name="Shape 7"/>
          <p:cNvSpPr/>
          <p:nvPr/>
        </p:nvSpPr>
        <p:spPr>
          <a:xfrm>
            <a:off x="9418320" y="1554480"/>
            <a:ext cx="2103120" cy="658368"/>
          </a:xfrm>
          <a:prstGeom prst="rect">
            <a:avLst/>
          </a:prstGeom>
          <a:solidFill>
            <a:srgbClr val="2C5F2D"/>
          </a:solidFill>
          <a:ln w="12700">
            <a:solidFill>
              <a:srgbClr val="DFE5D8"/>
            </a:solidFill>
            <a:prstDash val="solid"/>
          </a:ln>
        </p:spPr>
      </p:sp>
      <p:sp>
        <p:nvSpPr>
          <p:cNvPr id="10" name="Text 8"/>
          <p:cNvSpPr/>
          <p:nvPr/>
        </p:nvSpPr>
        <p:spPr>
          <a:xfrm>
            <a:off x="9418320" y="1700784"/>
            <a:ext cx="2103120" cy="365760"/>
          </a:xfrm>
          <a:prstGeom prst="rect">
            <a:avLst/>
          </a:prstGeom>
          <a:noFill/>
          <a:ln/>
        </p:spPr>
        <p:txBody>
          <a:bodyPr wrap="square" lIns="0" tIns="0" rIns="0" bIns="0" rtlCol="0" anchor="t"/>
          <a:lstStyle/>
          <a:p>
            <a:pPr marL="0" indent="0" algn="ctr">
              <a:buNone/>
            </a:pPr>
            <a:r>
              <a:rPr lang="en-US" sz="1500" b="1" dirty="0">
                <a:solidFill>
                  <a:srgbClr val="FFFFFF"/>
                </a:solidFill>
                <a:latin typeface="Calibri" pitchFamily="34" charset="0"/>
                <a:ea typeface="Calibri" pitchFamily="34" charset="-122"/>
                <a:cs typeface="Calibri" pitchFamily="34" charset="-120"/>
              </a:rPr>
              <a:t>SHEAF</a:t>
            </a:r>
            <a:endParaRPr lang="en-US" sz="1500" dirty="0"/>
          </a:p>
        </p:txBody>
      </p:sp>
      <p:sp>
        <p:nvSpPr>
          <p:cNvPr id="11" name="Shape 9"/>
          <p:cNvSpPr/>
          <p:nvPr/>
        </p:nvSpPr>
        <p:spPr>
          <a:xfrm>
            <a:off x="640080" y="2212848"/>
            <a:ext cx="4846320" cy="658368"/>
          </a:xfrm>
          <a:prstGeom prst="rect">
            <a:avLst/>
          </a:prstGeom>
          <a:solidFill>
            <a:srgbClr val="FFFFFF"/>
          </a:solidFill>
          <a:ln w="12700">
            <a:solidFill>
              <a:srgbClr val="DFE5D8"/>
            </a:solidFill>
            <a:prstDash val="solid"/>
          </a:ln>
        </p:spPr>
      </p:sp>
      <p:sp>
        <p:nvSpPr>
          <p:cNvPr id="12" name="Text 10"/>
          <p:cNvSpPr/>
          <p:nvPr/>
        </p:nvSpPr>
        <p:spPr>
          <a:xfrm>
            <a:off x="777240" y="2386584"/>
            <a:ext cx="4663440" cy="365760"/>
          </a:xfrm>
          <a:prstGeom prst="rect">
            <a:avLst/>
          </a:prstGeom>
          <a:noFill/>
          <a:ln/>
        </p:spPr>
        <p:txBody>
          <a:bodyPr wrap="square" lIns="0" tIns="0" rIns="0" bIns="0" rtlCol="0" anchor="t"/>
          <a:lstStyle/>
          <a:p>
            <a:pPr marL="0" indent="0" algn="l">
              <a:buNone/>
            </a:pPr>
            <a:r>
              <a:rPr lang="en-US" sz="1300" b="1" dirty="0">
                <a:solidFill>
                  <a:srgbClr val="5B6B57"/>
                </a:solidFill>
                <a:latin typeface="Calibri" pitchFamily="34" charset="0"/>
                <a:ea typeface="Calibri" pitchFamily="34" charset="-122"/>
                <a:cs typeface="Calibri" pitchFamily="34" charset="-120"/>
              </a:rPr>
              <a:t>Trade network</a:t>
            </a:r>
            <a:endParaRPr lang="en-US" sz="1300" dirty="0"/>
          </a:p>
        </p:txBody>
      </p:sp>
      <p:sp>
        <p:nvSpPr>
          <p:cNvPr id="13" name="Shape 11"/>
          <p:cNvSpPr/>
          <p:nvPr/>
        </p:nvSpPr>
        <p:spPr>
          <a:xfrm>
            <a:off x="5486400" y="2212848"/>
            <a:ext cx="1965960" cy="658368"/>
          </a:xfrm>
          <a:prstGeom prst="rect">
            <a:avLst/>
          </a:prstGeom>
          <a:solidFill>
            <a:srgbClr val="FFFFFF"/>
          </a:solidFill>
          <a:ln w="12700">
            <a:solidFill>
              <a:srgbClr val="DFE5D8"/>
            </a:solidFill>
            <a:prstDash val="solid"/>
          </a:ln>
        </p:spPr>
      </p:sp>
      <p:sp>
        <p:nvSpPr>
          <p:cNvPr id="14" name="Text 12"/>
          <p:cNvSpPr/>
          <p:nvPr/>
        </p:nvSpPr>
        <p:spPr>
          <a:xfrm>
            <a:off x="5486400" y="2386584"/>
            <a:ext cx="1965960" cy="365760"/>
          </a:xfrm>
          <a:prstGeom prst="rect">
            <a:avLst/>
          </a:prstGeom>
          <a:noFill/>
          <a:ln/>
        </p:spPr>
        <p:txBody>
          <a:bodyPr wrap="square" lIns="0" tIns="0" rIns="0" bIns="0" rtlCol="0" anchor="t"/>
          <a:lstStyle/>
          <a:p>
            <a:pPr marL="0" indent="0" algn="ctr">
              <a:buNone/>
            </a:pPr>
            <a:r>
              <a:rPr lang="en-US" sz="1300" dirty="0">
                <a:solidFill>
                  <a:srgbClr val="5B6B57"/>
                </a:solidFill>
                <a:latin typeface="Calibri" pitchFamily="34" charset="0"/>
                <a:ea typeface="Calibri" pitchFamily="34" charset="-122"/>
                <a:cs typeface="Calibri" pitchFamily="34" charset="-120"/>
              </a:rPr>
              <a:t>—</a:t>
            </a:r>
            <a:endParaRPr lang="en-US" sz="1300" dirty="0"/>
          </a:p>
        </p:txBody>
      </p:sp>
      <p:sp>
        <p:nvSpPr>
          <p:cNvPr id="15" name="Shape 13"/>
          <p:cNvSpPr/>
          <p:nvPr/>
        </p:nvSpPr>
        <p:spPr>
          <a:xfrm>
            <a:off x="7452360" y="2212848"/>
            <a:ext cx="1965960" cy="658368"/>
          </a:xfrm>
          <a:prstGeom prst="rect">
            <a:avLst/>
          </a:prstGeom>
          <a:solidFill>
            <a:srgbClr val="FFFFFF"/>
          </a:solidFill>
          <a:ln w="12700">
            <a:solidFill>
              <a:srgbClr val="DFE5D8"/>
            </a:solidFill>
            <a:prstDash val="solid"/>
          </a:ln>
        </p:spPr>
      </p:sp>
      <p:sp>
        <p:nvSpPr>
          <p:cNvPr id="16" name="Text 14"/>
          <p:cNvSpPr/>
          <p:nvPr/>
        </p:nvSpPr>
        <p:spPr>
          <a:xfrm>
            <a:off x="7452360" y="2386584"/>
            <a:ext cx="1965960" cy="365760"/>
          </a:xfrm>
          <a:prstGeom prst="rect">
            <a:avLst/>
          </a:prstGeom>
          <a:noFill/>
          <a:ln/>
        </p:spPr>
        <p:txBody>
          <a:bodyPr wrap="square" lIns="0" tIns="0" rIns="0" bIns="0" rtlCol="0" anchor="t"/>
          <a:lstStyle/>
          <a:p>
            <a:pPr marL="0" indent="0" algn="ctr">
              <a:buNone/>
            </a:pPr>
            <a:r>
              <a:rPr lang="en-US" sz="1300" dirty="0">
                <a:solidFill>
                  <a:srgbClr val="5B6B57"/>
                </a:solidFill>
                <a:latin typeface="Calibri" pitchFamily="34" charset="0"/>
                <a:ea typeface="Calibri" pitchFamily="34" charset="-122"/>
                <a:cs typeface="Calibri" pitchFamily="34" charset="-120"/>
              </a:rPr>
              <a:t>✓</a:t>
            </a:r>
            <a:endParaRPr lang="en-US" sz="1300" dirty="0"/>
          </a:p>
        </p:txBody>
      </p:sp>
      <p:sp>
        <p:nvSpPr>
          <p:cNvPr id="17" name="Shape 15"/>
          <p:cNvSpPr/>
          <p:nvPr/>
        </p:nvSpPr>
        <p:spPr>
          <a:xfrm>
            <a:off x="9418320" y="2212848"/>
            <a:ext cx="2103120" cy="658368"/>
          </a:xfrm>
          <a:prstGeom prst="rect">
            <a:avLst/>
          </a:prstGeom>
          <a:solidFill>
            <a:srgbClr val="EDF4E7"/>
          </a:solidFill>
          <a:ln w="12700">
            <a:solidFill>
              <a:srgbClr val="DFE5D8"/>
            </a:solidFill>
            <a:prstDash val="solid"/>
          </a:ln>
        </p:spPr>
      </p:sp>
      <p:sp>
        <p:nvSpPr>
          <p:cNvPr id="18" name="Text 16"/>
          <p:cNvSpPr/>
          <p:nvPr/>
        </p:nvSpPr>
        <p:spPr>
          <a:xfrm>
            <a:off x="9418320" y="2386584"/>
            <a:ext cx="2103120" cy="365760"/>
          </a:xfrm>
          <a:prstGeom prst="rect">
            <a:avLst/>
          </a:prstGeom>
          <a:noFill/>
          <a:ln/>
        </p:spPr>
        <p:txBody>
          <a:bodyPr wrap="square" lIns="0" tIns="0" rIns="0" bIns="0" rtlCol="0" anchor="t"/>
          <a:lstStyle/>
          <a:p>
            <a:pPr marL="0" indent="0" algn="ctr">
              <a:buNone/>
            </a:pPr>
            <a:r>
              <a:rPr lang="en-US" sz="1300" b="1" dirty="0">
                <a:solidFill>
                  <a:srgbClr val="2C5F2D"/>
                </a:solidFill>
                <a:latin typeface="Calibri" pitchFamily="34" charset="0"/>
                <a:ea typeface="Calibri" pitchFamily="34" charset="-122"/>
                <a:cs typeface="Calibri" pitchFamily="34" charset="-120"/>
              </a:rPr>
              <a:t>✓</a:t>
            </a:r>
            <a:endParaRPr lang="en-US" sz="1300" dirty="0"/>
          </a:p>
        </p:txBody>
      </p:sp>
      <p:sp>
        <p:nvSpPr>
          <p:cNvPr id="19" name="Shape 17"/>
          <p:cNvSpPr/>
          <p:nvPr/>
        </p:nvSpPr>
        <p:spPr>
          <a:xfrm>
            <a:off x="640080" y="2871216"/>
            <a:ext cx="4846320" cy="658368"/>
          </a:xfrm>
          <a:prstGeom prst="rect">
            <a:avLst/>
          </a:prstGeom>
          <a:solidFill>
            <a:srgbClr val="F4F7F0"/>
          </a:solidFill>
          <a:ln w="12700">
            <a:solidFill>
              <a:srgbClr val="DFE5D8"/>
            </a:solidFill>
            <a:prstDash val="solid"/>
          </a:ln>
        </p:spPr>
      </p:sp>
      <p:sp>
        <p:nvSpPr>
          <p:cNvPr id="20" name="Text 18"/>
          <p:cNvSpPr/>
          <p:nvPr/>
        </p:nvSpPr>
        <p:spPr>
          <a:xfrm>
            <a:off x="777240" y="3044952"/>
            <a:ext cx="4663440" cy="365760"/>
          </a:xfrm>
          <a:prstGeom prst="rect">
            <a:avLst/>
          </a:prstGeom>
          <a:noFill/>
          <a:ln/>
        </p:spPr>
        <p:txBody>
          <a:bodyPr wrap="square" lIns="0" tIns="0" rIns="0" bIns="0" rtlCol="0" anchor="t"/>
          <a:lstStyle/>
          <a:p>
            <a:pPr marL="0" indent="0" algn="l">
              <a:buNone/>
            </a:pPr>
            <a:r>
              <a:rPr lang="en-US" sz="1300" b="1" dirty="0">
                <a:solidFill>
                  <a:srgbClr val="5B6B57"/>
                </a:solidFill>
                <a:latin typeface="Calibri" pitchFamily="34" charset="0"/>
                <a:ea typeface="Calibri" pitchFamily="34" charset="-122"/>
                <a:cs typeface="Calibri" pitchFamily="34" charset="-120"/>
              </a:rPr>
              <a:t>Multiple grains + substitution</a:t>
            </a:r>
            <a:endParaRPr lang="en-US" sz="1300" dirty="0"/>
          </a:p>
        </p:txBody>
      </p:sp>
      <p:sp>
        <p:nvSpPr>
          <p:cNvPr id="21" name="Shape 19"/>
          <p:cNvSpPr/>
          <p:nvPr/>
        </p:nvSpPr>
        <p:spPr>
          <a:xfrm>
            <a:off x="5486400" y="2871216"/>
            <a:ext cx="1965960" cy="658368"/>
          </a:xfrm>
          <a:prstGeom prst="rect">
            <a:avLst/>
          </a:prstGeom>
          <a:solidFill>
            <a:srgbClr val="F4F7F0"/>
          </a:solidFill>
          <a:ln w="12700">
            <a:solidFill>
              <a:srgbClr val="DFE5D8"/>
            </a:solidFill>
            <a:prstDash val="solid"/>
          </a:ln>
        </p:spPr>
      </p:sp>
      <p:sp>
        <p:nvSpPr>
          <p:cNvPr id="22" name="Text 20"/>
          <p:cNvSpPr/>
          <p:nvPr/>
        </p:nvSpPr>
        <p:spPr>
          <a:xfrm>
            <a:off x="5486400" y="3044952"/>
            <a:ext cx="1965960" cy="365760"/>
          </a:xfrm>
          <a:prstGeom prst="rect">
            <a:avLst/>
          </a:prstGeom>
          <a:noFill/>
          <a:ln/>
        </p:spPr>
        <p:txBody>
          <a:bodyPr wrap="square" lIns="0" tIns="0" rIns="0" bIns="0" rtlCol="0" anchor="t"/>
          <a:lstStyle/>
          <a:p>
            <a:pPr marL="0" indent="0" algn="ctr">
              <a:buNone/>
            </a:pPr>
            <a:r>
              <a:rPr lang="en-US" sz="1300" dirty="0">
                <a:solidFill>
                  <a:srgbClr val="5B6B57"/>
                </a:solidFill>
                <a:latin typeface="Calibri" pitchFamily="34" charset="0"/>
                <a:ea typeface="Calibri" pitchFamily="34" charset="-122"/>
                <a:cs typeface="Calibri" pitchFamily="34" charset="-120"/>
              </a:rPr>
              <a:t>—</a:t>
            </a:r>
            <a:endParaRPr lang="en-US" sz="1300" dirty="0"/>
          </a:p>
        </p:txBody>
      </p:sp>
      <p:sp>
        <p:nvSpPr>
          <p:cNvPr id="23" name="Shape 21"/>
          <p:cNvSpPr/>
          <p:nvPr/>
        </p:nvSpPr>
        <p:spPr>
          <a:xfrm>
            <a:off x="7452360" y="2871216"/>
            <a:ext cx="1965960" cy="658368"/>
          </a:xfrm>
          <a:prstGeom prst="rect">
            <a:avLst/>
          </a:prstGeom>
          <a:solidFill>
            <a:srgbClr val="F4F7F0"/>
          </a:solidFill>
          <a:ln w="12700">
            <a:solidFill>
              <a:srgbClr val="DFE5D8"/>
            </a:solidFill>
            <a:prstDash val="solid"/>
          </a:ln>
        </p:spPr>
      </p:sp>
      <p:sp>
        <p:nvSpPr>
          <p:cNvPr id="24" name="Text 22"/>
          <p:cNvSpPr/>
          <p:nvPr/>
        </p:nvSpPr>
        <p:spPr>
          <a:xfrm>
            <a:off x="7452360" y="3044952"/>
            <a:ext cx="1965960" cy="365760"/>
          </a:xfrm>
          <a:prstGeom prst="rect">
            <a:avLst/>
          </a:prstGeom>
          <a:noFill/>
          <a:ln/>
        </p:spPr>
        <p:txBody>
          <a:bodyPr wrap="square" lIns="0" tIns="0" rIns="0" bIns="0" rtlCol="0" anchor="t"/>
          <a:lstStyle/>
          <a:p>
            <a:pPr marL="0" indent="0" algn="ctr">
              <a:buNone/>
            </a:pPr>
            <a:r>
              <a:rPr lang="en-US" sz="1300" dirty="0">
                <a:solidFill>
                  <a:srgbClr val="5B6B57"/>
                </a:solidFill>
                <a:latin typeface="Calibri" pitchFamily="34" charset="0"/>
                <a:ea typeface="Calibri" pitchFamily="34" charset="-122"/>
                <a:cs typeface="Calibri" pitchFamily="34" charset="-120"/>
              </a:rPr>
              <a:t>—</a:t>
            </a:r>
            <a:endParaRPr lang="en-US" sz="1300" dirty="0"/>
          </a:p>
        </p:txBody>
      </p:sp>
      <p:sp>
        <p:nvSpPr>
          <p:cNvPr id="25" name="Shape 23"/>
          <p:cNvSpPr/>
          <p:nvPr/>
        </p:nvSpPr>
        <p:spPr>
          <a:xfrm>
            <a:off x="9418320" y="2871216"/>
            <a:ext cx="2103120" cy="658368"/>
          </a:xfrm>
          <a:prstGeom prst="rect">
            <a:avLst/>
          </a:prstGeom>
          <a:solidFill>
            <a:srgbClr val="EDF4E7"/>
          </a:solidFill>
          <a:ln w="12700">
            <a:solidFill>
              <a:srgbClr val="DFE5D8"/>
            </a:solidFill>
            <a:prstDash val="solid"/>
          </a:ln>
        </p:spPr>
      </p:sp>
      <p:sp>
        <p:nvSpPr>
          <p:cNvPr id="26" name="Text 24"/>
          <p:cNvSpPr/>
          <p:nvPr/>
        </p:nvSpPr>
        <p:spPr>
          <a:xfrm>
            <a:off x="9418320" y="3044952"/>
            <a:ext cx="2103120" cy="365760"/>
          </a:xfrm>
          <a:prstGeom prst="rect">
            <a:avLst/>
          </a:prstGeom>
          <a:noFill/>
          <a:ln/>
        </p:spPr>
        <p:txBody>
          <a:bodyPr wrap="square" lIns="0" tIns="0" rIns="0" bIns="0" rtlCol="0" anchor="t"/>
          <a:lstStyle/>
          <a:p>
            <a:pPr marL="0" indent="0" algn="ctr">
              <a:buNone/>
            </a:pPr>
            <a:r>
              <a:rPr lang="en-US" sz="1300" b="1" dirty="0">
                <a:solidFill>
                  <a:srgbClr val="2C5F2D"/>
                </a:solidFill>
                <a:latin typeface="Calibri" pitchFamily="34" charset="0"/>
                <a:ea typeface="Calibri" pitchFamily="34" charset="-122"/>
                <a:cs typeface="Calibri" pitchFamily="34" charset="-120"/>
              </a:rPr>
              <a:t>✓</a:t>
            </a:r>
            <a:endParaRPr lang="en-US" sz="1300" dirty="0"/>
          </a:p>
        </p:txBody>
      </p:sp>
      <p:sp>
        <p:nvSpPr>
          <p:cNvPr id="27" name="Shape 25"/>
          <p:cNvSpPr/>
          <p:nvPr/>
        </p:nvSpPr>
        <p:spPr>
          <a:xfrm>
            <a:off x="640080" y="3529584"/>
            <a:ext cx="4846320" cy="658368"/>
          </a:xfrm>
          <a:prstGeom prst="rect">
            <a:avLst/>
          </a:prstGeom>
          <a:solidFill>
            <a:srgbClr val="FFFFFF"/>
          </a:solidFill>
          <a:ln w="12700">
            <a:solidFill>
              <a:srgbClr val="DFE5D8"/>
            </a:solidFill>
            <a:prstDash val="solid"/>
          </a:ln>
        </p:spPr>
      </p:sp>
      <p:sp>
        <p:nvSpPr>
          <p:cNvPr id="28" name="Text 26"/>
          <p:cNvSpPr/>
          <p:nvPr/>
        </p:nvSpPr>
        <p:spPr>
          <a:xfrm>
            <a:off x="777240" y="3703320"/>
            <a:ext cx="4663440" cy="365760"/>
          </a:xfrm>
          <a:prstGeom prst="rect">
            <a:avLst/>
          </a:prstGeom>
          <a:noFill/>
          <a:ln/>
        </p:spPr>
        <p:txBody>
          <a:bodyPr wrap="square" lIns="0" tIns="0" rIns="0" bIns="0" rtlCol="0" anchor="t"/>
          <a:lstStyle/>
          <a:p>
            <a:pPr marL="0" indent="0" algn="l">
              <a:buNone/>
            </a:pPr>
            <a:r>
              <a:rPr lang="en-US" sz="1300" b="1" dirty="0">
                <a:solidFill>
                  <a:srgbClr val="5B6B57"/>
                </a:solidFill>
                <a:latin typeface="Calibri" pitchFamily="34" charset="0"/>
                <a:ea typeface="Calibri" pitchFamily="34" charset="-122"/>
                <a:cs typeface="Calibri" pitchFamily="34" charset="-120"/>
              </a:rPr>
              <a:t>Strategic export game</a:t>
            </a:r>
            <a:endParaRPr lang="en-US" sz="1300" dirty="0"/>
          </a:p>
        </p:txBody>
      </p:sp>
      <p:sp>
        <p:nvSpPr>
          <p:cNvPr id="29" name="Shape 27"/>
          <p:cNvSpPr/>
          <p:nvPr/>
        </p:nvSpPr>
        <p:spPr>
          <a:xfrm>
            <a:off x="5486400" y="3529584"/>
            <a:ext cx="1965960" cy="658368"/>
          </a:xfrm>
          <a:prstGeom prst="rect">
            <a:avLst/>
          </a:prstGeom>
          <a:solidFill>
            <a:srgbClr val="FFFFFF"/>
          </a:solidFill>
          <a:ln w="12700">
            <a:solidFill>
              <a:srgbClr val="DFE5D8"/>
            </a:solidFill>
            <a:prstDash val="solid"/>
          </a:ln>
        </p:spPr>
      </p:sp>
      <p:sp>
        <p:nvSpPr>
          <p:cNvPr id="30" name="Text 28"/>
          <p:cNvSpPr/>
          <p:nvPr/>
        </p:nvSpPr>
        <p:spPr>
          <a:xfrm>
            <a:off x="5486400" y="3703320"/>
            <a:ext cx="1965960" cy="365760"/>
          </a:xfrm>
          <a:prstGeom prst="rect">
            <a:avLst/>
          </a:prstGeom>
          <a:noFill/>
          <a:ln/>
        </p:spPr>
        <p:txBody>
          <a:bodyPr wrap="square" lIns="0" tIns="0" rIns="0" bIns="0" rtlCol="0" anchor="t"/>
          <a:lstStyle/>
          <a:p>
            <a:pPr marL="0" indent="0" algn="ctr">
              <a:buNone/>
            </a:pPr>
            <a:r>
              <a:rPr lang="en-US" sz="1300" dirty="0">
                <a:solidFill>
                  <a:srgbClr val="5B6B57"/>
                </a:solidFill>
                <a:latin typeface="Calibri" pitchFamily="34" charset="0"/>
                <a:ea typeface="Calibri" pitchFamily="34" charset="-122"/>
                <a:cs typeface="Calibri" pitchFamily="34" charset="-120"/>
              </a:rPr>
              <a:t>—</a:t>
            </a:r>
            <a:endParaRPr lang="en-US" sz="1300" dirty="0"/>
          </a:p>
        </p:txBody>
      </p:sp>
      <p:sp>
        <p:nvSpPr>
          <p:cNvPr id="31" name="Shape 29"/>
          <p:cNvSpPr/>
          <p:nvPr/>
        </p:nvSpPr>
        <p:spPr>
          <a:xfrm>
            <a:off x="7452360" y="3529584"/>
            <a:ext cx="1965960" cy="658368"/>
          </a:xfrm>
          <a:prstGeom prst="rect">
            <a:avLst/>
          </a:prstGeom>
          <a:solidFill>
            <a:srgbClr val="FFFFFF"/>
          </a:solidFill>
          <a:ln w="12700">
            <a:solidFill>
              <a:srgbClr val="DFE5D8"/>
            </a:solidFill>
            <a:prstDash val="solid"/>
          </a:ln>
        </p:spPr>
      </p:sp>
      <p:sp>
        <p:nvSpPr>
          <p:cNvPr id="32" name="Text 30"/>
          <p:cNvSpPr/>
          <p:nvPr/>
        </p:nvSpPr>
        <p:spPr>
          <a:xfrm>
            <a:off x="7452360" y="3703320"/>
            <a:ext cx="1965960" cy="365760"/>
          </a:xfrm>
          <a:prstGeom prst="rect">
            <a:avLst/>
          </a:prstGeom>
          <a:noFill/>
          <a:ln/>
        </p:spPr>
        <p:txBody>
          <a:bodyPr wrap="square" lIns="0" tIns="0" rIns="0" bIns="0" rtlCol="0" anchor="t"/>
          <a:lstStyle/>
          <a:p>
            <a:pPr marL="0" indent="0" algn="ctr">
              <a:buNone/>
            </a:pPr>
            <a:r>
              <a:rPr lang="en-US" sz="1300" dirty="0">
                <a:solidFill>
                  <a:srgbClr val="5B6B57"/>
                </a:solidFill>
                <a:latin typeface="Calibri" pitchFamily="34" charset="0"/>
                <a:ea typeface="Calibri" pitchFamily="34" charset="-122"/>
                <a:cs typeface="Calibri" pitchFamily="34" charset="-120"/>
              </a:rPr>
              <a:t>imposed</a:t>
            </a:r>
            <a:endParaRPr lang="en-US" sz="1300" dirty="0"/>
          </a:p>
        </p:txBody>
      </p:sp>
      <p:sp>
        <p:nvSpPr>
          <p:cNvPr id="33" name="Shape 31"/>
          <p:cNvSpPr/>
          <p:nvPr/>
        </p:nvSpPr>
        <p:spPr>
          <a:xfrm>
            <a:off x="9418320" y="3529584"/>
            <a:ext cx="2103120" cy="658368"/>
          </a:xfrm>
          <a:prstGeom prst="rect">
            <a:avLst/>
          </a:prstGeom>
          <a:solidFill>
            <a:srgbClr val="EDF4E7"/>
          </a:solidFill>
          <a:ln w="12700">
            <a:solidFill>
              <a:srgbClr val="DFE5D8"/>
            </a:solidFill>
            <a:prstDash val="solid"/>
          </a:ln>
        </p:spPr>
      </p:sp>
      <p:sp>
        <p:nvSpPr>
          <p:cNvPr id="34" name="Text 32"/>
          <p:cNvSpPr/>
          <p:nvPr/>
        </p:nvSpPr>
        <p:spPr>
          <a:xfrm>
            <a:off x="9418320" y="3703320"/>
            <a:ext cx="2103120" cy="365760"/>
          </a:xfrm>
          <a:prstGeom prst="rect">
            <a:avLst/>
          </a:prstGeom>
          <a:noFill/>
          <a:ln/>
        </p:spPr>
        <p:txBody>
          <a:bodyPr wrap="square" lIns="0" tIns="0" rIns="0" bIns="0" rtlCol="0" anchor="t"/>
          <a:lstStyle/>
          <a:p>
            <a:pPr marL="0" indent="0" algn="ctr">
              <a:buNone/>
            </a:pPr>
            <a:r>
              <a:rPr lang="en-US" sz="1300" b="1" dirty="0">
                <a:solidFill>
                  <a:srgbClr val="2C5F2D"/>
                </a:solidFill>
                <a:latin typeface="Calibri" pitchFamily="34" charset="0"/>
                <a:ea typeface="Calibri" pitchFamily="34" charset="-122"/>
                <a:cs typeface="Calibri" pitchFamily="34" charset="-120"/>
              </a:rPr>
              <a:t>endogenous</a:t>
            </a:r>
            <a:endParaRPr lang="en-US" sz="1300" dirty="0"/>
          </a:p>
        </p:txBody>
      </p:sp>
      <p:sp>
        <p:nvSpPr>
          <p:cNvPr id="35" name="Shape 33"/>
          <p:cNvSpPr/>
          <p:nvPr/>
        </p:nvSpPr>
        <p:spPr>
          <a:xfrm>
            <a:off x="640080" y="4187952"/>
            <a:ext cx="4846320" cy="658368"/>
          </a:xfrm>
          <a:prstGeom prst="rect">
            <a:avLst/>
          </a:prstGeom>
          <a:solidFill>
            <a:srgbClr val="F4F7F0"/>
          </a:solidFill>
          <a:ln w="12700">
            <a:solidFill>
              <a:srgbClr val="DFE5D8"/>
            </a:solidFill>
            <a:prstDash val="solid"/>
          </a:ln>
        </p:spPr>
      </p:sp>
      <p:sp>
        <p:nvSpPr>
          <p:cNvPr id="36" name="Text 34"/>
          <p:cNvSpPr/>
          <p:nvPr/>
        </p:nvSpPr>
        <p:spPr>
          <a:xfrm>
            <a:off x="777240" y="4361688"/>
            <a:ext cx="4663440" cy="365760"/>
          </a:xfrm>
          <a:prstGeom prst="rect">
            <a:avLst/>
          </a:prstGeom>
          <a:noFill/>
          <a:ln/>
        </p:spPr>
        <p:txBody>
          <a:bodyPr wrap="square" lIns="0" tIns="0" rIns="0" bIns="0" rtlCol="0" anchor="t"/>
          <a:lstStyle/>
          <a:p>
            <a:pPr marL="0" indent="0" algn="l">
              <a:buNone/>
            </a:pPr>
            <a:r>
              <a:rPr lang="en-US" sz="1300" b="1" dirty="0">
                <a:solidFill>
                  <a:srgbClr val="5B6B57"/>
                </a:solidFill>
                <a:latin typeface="Calibri" pitchFamily="34" charset="0"/>
                <a:ea typeface="Calibri" pitchFamily="34" charset="-122"/>
                <a:cs typeface="Calibri" pitchFamily="34" charset="-120"/>
              </a:rPr>
              <a:t>Storage (private + government)</a:t>
            </a:r>
            <a:endParaRPr lang="en-US" sz="1300" dirty="0"/>
          </a:p>
        </p:txBody>
      </p:sp>
      <p:sp>
        <p:nvSpPr>
          <p:cNvPr id="37" name="Shape 35"/>
          <p:cNvSpPr/>
          <p:nvPr/>
        </p:nvSpPr>
        <p:spPr>
          <a:xfrm>
            <a:off x="5486400" y="4187952"/>
            <a:ext cx="1965960" cy="658368"/>
          </a:xfrm>
          <a:prstGeom prst="rect">
            <a:avLst/>
          </a:prstGeom>
          <a:solidFill>
            <a:srgbClr val="F4F7F0"/>
          </a:solidFill>
          <a:ln w="12700">
            <a:solidFill>
              <a:srgbClr val="DFE5D8"/>
            </a:solidFill>
            <a:prstDash val="solid"/>
          </a:ln>
        </p:spPr>
      </p:sp>
      <p:sp>
        <p:nvSpPr>
          <p:cNvPr id="38" name="Text 36"/>
          <p:cNvSpPr/>
          <p:nvPr/>
        </p:nvSpPr>
        <p:spPr>
          <a:xfrm>
            <a:off x="5486400" y="4361688"/>
            <a:ext cx="1965960" cy="365760"/>
          </a:xfrm>
          <a:prstGeom prst="rect">
            <a:avLst/>
          </a:prstGeom>
          <a:noFill/>
          <a:ln/>
        </p:spPr>
        <p:txBody>
          <a:bodyPr wrap="square" lIns="0" tIns="0" rIns="0" bIns="0" rtlCol="0" anchor="t"/>
          <a:lstStyle/>
          <a:p>
            <a:pPr marL="0" indent="0" algn="ctr">
              <a:buNone/>
            </a:pPr>
            <a:r>
              <a:rPr lang="en-US" sz="1300" dirty="0">
                <a:solidFill>
                  <a:srgbClr val="5B6B57"/>
                </a:solidFill>
                <a:latin typeface="Calibri" pitchFamily="34" charset="0"/>
                <a:ea typeface="Calibri" pitchFamily="34" charset="-122"/>
                <a:cs typeface="Calibri" pitchFamily="34" charset="-120"/>
              </a:rPr>
              <a:t>✓</a:t>
            </a:r>
            <a:endParaRPr lang="en-US" sz="1300" dirty="0"/>
          </a:p>
        </p:txBody>
      </p:sp>
      <p:sp>
        <p:nvSpPr>
          <p:cNvPr id="39" name="Shape 37"/>
          <p:cNvSpPr/>
          <p:nvPr/>
        </p:nvSpPr>
        <p:spPr>
          <a:xfrm>
            <a:off x="7452360" y="4187952"/>
            <a:ext cx="1965960" cy="658368"/>
          </a:xfrm>
          <a:prstGeom prst="rect">
            <a:avLst/>
          </a:prstGeom>
          <a:solidFill>
            <a:srgbClr val="F4F7F0"/>
          </a:solidFill>
          <a:ln w="12700">
            <a:solidFill>
              <a:srgbClr val="DFE5D8"/>
            </a:solidFill>
            <a:prstDash val="solid"/>
          </a:ln>
        </p:spPr>
      </p:sp>
      <p:sp>
        <p:nvSpPr>
          <p:cNvPr id="40" name="Text 38"/>
          <p:cNvSpPr/>
          <p:nvPr/>
        </p:nvSpPr>
        <p:spPr>
          <a:xfrm>
            <a:off x="7452360" y="4361688"/>
            <a:ext cx="1965960" cy="365760"/>
          </a:xfrm>
          <a:prstGeom prst="rect">
            <a:avLst/>
          </a:prstGeom>
          <a:noFill/>
          <a:ln/>
        </p:spPr>
        <p:txBody>
          <a:bodyPr wrap="square" lIns="0" tIns="0" rIns="0" bIns="0" rtlCol="0" anchor="t"/>
          <a:lstStyle/>
          <a:p>
            <a:pPr marL="0" indent="0" algn="ctr">
              <a:buNone/>
            </a:pPr>
            <a:r>
              <a:rPr lang="en-US" sz="1300" dirty="0">
                <a:solidFill>
                  <a:srgbClr val="5B6B57"/>
                </a:solidFill>
                <a:latin typeface="Calibri" pitchFamily="34" charset="0"/>
                <a:ea typeface="Calibri" pitchFamily="34" charset="-122"/>
                <a:cs typeface="Calibri" pitchFamily="34" charset="-120"/>
              </a:rPr>
              <a:t>✓</a:t>
            </a:r>
            <a:endParaRPr lang="en-US" sz="1300" dirty="0"/>
          </a:p>
        </p:txBody>
      </p:sp>
      <p:sp>
        <p:nvSpPr>
          <p:cNvPr id="41" name="Shape 39"/>
          <p:cNvSpPr/>
          <p:nvPr/>
        </p:nvSpPr>
        <p:spPr>
          <a:xfrm>
            <a:off x="9418320" y="4187952"/>
            <a:ext cx="2103120" cy="658368"/>
          </a:xfrm>
          <a:prstGeom prst="rect">
            <a:avLst/>
          </a:prstGeom>
          <a:solidFill>
            <a:srgbClr val="EDF4E7"/>
          </a:solidFill>
          <a:ln w="12700">
            <a:solidFill>
              <a:srgbClr val="DFE5D8"/>
            </a:solidFill>
            <a:prstDash val="solid"/>
          </a:ln>
        </p:spPr>
      </p:sp>
      <p:sp>
        <p:nvSpPr>
          <p:cNvPr id="42" name="Text 40"/>
          <p:cNvSpPr/>
          <p:nvPr/>
        </p:nvSpPr>
        <p:spPr>
          <a:xfrm>
            <a:off x="9418320" y="4361688"/>
            <a:ext cx="2103120" cy="365760"/>
          </a:xfrm>
          <a:prstGeom prst="rect">
            <a:avLst/>
          </a:prstGeom>
          <a:noFill/>
          <a:ln/>
        </p:spPr>
        <p:txBody>
          <a:bodyPr wrap="square" lIns="0" tIns="0" rIns="0" bIns="0" rtlCol="0" anchor="t"/>
          <a:lstStyle/>
          <a:p>
            <a:pPr marL="0" indent="0" algn="ctr">
              <a:buNone/>
            </a:pPr>
            <a:r>
              <a:rPr lang="en-US" sz="1300" b="1" dirty="0">
                <a:solidFill>
                  <a:srgbClr val="2C5F2D"/>
                </a:solidFill>
                <a:latin typeface="Calibri" pitchFamily="34" charset="0"/>
                <a:ea typeface="Calibri" pitchFamily="34" charset="-122"/>
                <a:cs typeface="Calibri" pitchFamily="34" charset="-120"/>
              </a:rPr>
              <a:t>✓</a:t>
            </a:r>
            <a:endParaRPr lang="en-US" sz="1300" dirty="0"/>
          </a:p>
        </p:txBody>
      </p:sp>
      <p:sp>
        <p:nvSpPr>
          <p:cNvPr id="43" name="Shape 41"/>
          <p:cNvSpPr/>
          <p:nvPr/>
        </p:nvSpPr>
        <p:spPr>
          <a:xfrm>
            <a:off x="640080" y="4846320"/>
            <a:ext cx="4846320" cy="658368"/>
          </a:xfrm>
          <a:prstGeom prst="rect">
            <a:avLst/>
          </a:prstGeom>
          <a:solidFill>
            <a:srgbClr val="FFFFFF"/>
          </a:solidFill>
          <a:ln w="12700">
            <a:solidFill>
              <a:srgbClr val="DFE5D8"/>
            </a:solidFill>
            <a:prstDash val="solid"/>
          </a:ln>
        </p:spPr>
      </p:sp>
      <p:sp>
        <p:nvSpPr>
          <p:cNvPr id="44" name="Text 42"/>
          <p:cNvSpPr/>
          <p:nvPr/>
        </p:nvSpPr>
        <p:spPr>
          <a:xfrm>
            <a:off x="777240" y="5020056"/>
            <a:ext cx="4663440" cy="365760"/>
          </a:xfrm>
          <a:prstGeom prst="rect">
            <a:avLst/>
          </a:prstGeom>
          <a:noFill/>
          <a:ln/>
        </p:spPr>
        <p:txBody>
          <a:bodyPr wrap="square" lIns="0" tIns="0" rIns="0" bIns="0" rtlCol="0" anchor="t"/>
          <a:lstStyle/>
          <a:p>
            <a:pPr marL="0" indent="0" algn="l">
              <a:buNone/>
            </a:pPr>
            <a:r>
              <a:rPr lang="en-US" sz="1300" b="1" dirty="0">
                <a:solidFill>
                  <a:srgbClr val="5B6B57"/>
                </a:solidFill>
                <a:latin typeface="Calibri" pitchFamily="34" charset="0"/>
                <a:ea typeface="Calibri" pitchFamily="34" charset="-122"/>
                <a:cs typeface="Calibri" pitchFamily="34" charset="-120"/>
              </a:rPr>
              <a:t>Predicts who restricts</a:t>
            </a:r>
            <a:endParaRPr lang="en-US" sz="1300" dirty="0"/>
          </a:p>
        </p:txBody>
      </p:sp>
      <p:sp>
        <p:nvSpPr>
          <p:cNvPr id="45" name="Shape 43"/>
          <p:cNvSpPr/>
          <p:nvPr/>
        </p:nvSpPr>
        <p:spPr>
          <a:xfrm>
            <a:off x="5486400" y="4846320"/>
            <a:ext cx="1965960" cy="658368"/>
          </a:xfrm>
          <a:prstGeom prst="rect">
            <a:avLst/>
          </a:prstGeom>
          <a:solidFill>
            <a:srgbClr val="FFFFFF"/>
          </a:solidFill>
          <a:ln w="12700">
            <a:solidFill>
              <a:srgbClr val="DFE5D8"/>
            </a:solidFill>
            <a:prstDash val="solid"/>
          </a:ln>
        </p:spPr>
      </p:sp>
      <p:sp>
        <p:nvSpPr>
          <p:cNvPr id="46" name="Text 44"/>
          <p:cNvSpPr/>
          <p:nvPr/>
        </p:nvSpPr>
        <p:spPr>
          <a:xfrm>
            <a:off x="5486400" y="5020056"/>
            <a:ext cx="1965960" cy="365760"/>
          </a:xfrm>
          <a:prstGeom prst="rect">
            <a:avLst/>
          </a:prstGeom>
          <a:noFill/>
          <a:ln/>
        </p:spPr>
        <p:txBody>
          <a:bodyPr wrap="square" lIns="0" tIns="0" rIns="0" bIns="0" rtlCol="0" anchor="t"/>
          <a:lstStyle/>
          <a:p>
            <a:pPr marL="0" indent="0" algn="ctr">
              <a:buNone/>
            </a:pPr>
            <a:r>
              <a:rPr lang="en-US" sz="1300" dirty="0">
                <a:solidFill>
                  <a:srgbClr val="5B6B57"/>
                </a:solidFill>
                <a:latin typeface="Calibri" pitchFamily="34" charset="0"/>
                <a:ea typeface="Calibri" pitchFamily="34" charset="-122"/>
                <a:cs typeface="Calibri" pitchFamily="34" charset="-120"/>
              </a:rPr>
              <a:t>—</a:t>
            </a:r>
            <a:endParaRPr lang="en-US" sz="1300" dirty="0"/>
          </a:p>
        </p:txBody>
      </p:sp>
      <p:sp>
        <p:nvSpPr>
          <p:cNvPr id="47" name="Shape 45"/>
          <p:cNvSpPr/>
          <p:nvPr/>
        </p:nvSpPr>
        <p:spPr>
          <a:xfrm>
            <a:off x="7452360" y="4846320"/>
            <a:ext cx="1965960" cy="658368"/>
          </a:xfrm>
          <a:prstGeom prst="rect">
            <a:avLst/>
          </a:prstGeom>
          <a:solidFill>
            <a:srgbClr val="FFFFFF"/>
          </a:solidFill>
          <a:ln w="12700">
            <a:solidFill>
              <a:srgbClr val="DFE5D8"/>
            </a:solidFill>
            <a:prstDash val="solid"/>
          </a:ln>
        </p:spPr>
      </p:sp>
      <p:sp>
        <p:nvSpPr>
          <p:cNvPr id="48" name="Text 46"/>
          <p:cNvSpPr/>
          <p:nvPr/>
        </p:nvSpPr>
        <p:spPr>
          <a:xfrm>
            <a:off x="7452360" y="5020056"/>
            <a:ext cx="1965960" cy="365760"/>
          </a:xfrm>
          <a:prstGeom prst="rect">
            <a:avLst/>
          </a:prstGeom>
          <a:noFill/>
          <a:ln/>
        </p:spPr>
        <p:txBody>
          <a:bodyPr wrap="square" lIns="0" tIns="0" rIns="0" bIns="0" rtlCol="0" anchor="t"/>
          <a:lstStyle/>
          <a:p>
            <a:pPr marL="0" indent="0" algn="ctr">
              <a:buNone/>
            </a:pPr>
            <a:r>
              <a:rPr lang="en-US" sz="1300" dirty="0">
                <a:solidFill>
                  <a:srgbClr val="5B6B57"/>
                </a:solidFill>
                <a:latin typeface="Calibri" pitchFamily="34" charset="0"/>
                <a:ea typeface="Calibri" pitchFamily="34" charset="-122"/>
                <a:cs typeface="Calibri" pitchFamily="34" charset="-120"/>
              </a:rPr>
              <a:t>—</a:t>
            </a:r>
            <a:endParaRPr lang="en-US" sz="1300" dirty="0"/>
          </a:p>
        </p:txBody>
      </p:sp>
      <p:sp>
        <p:nvSpPr>
          <p:cNvPr id="49" name="Shape 47"/>
          <p:cNvSpPr/>
          <p:nvPr/>
        </p:nvSpPr>
        <p:spPr>
          <a:xfrm>
            <a:off x="9418320" y="4846320"/>
            <a:ext cx="2103120" cy="658368"/>
          </a:xfrm>
          <a:prstGeom prst="rect">
            <a:avLst/>
          </a:prstGeom>
          <a:solidFill>
            <a:srgbClr val="EDF4E7"/>
          </a:solidFill>
          <a:ln w="12700">
            <a:solidFill>
              <a:srgbClr val="DFE5D8"/>
            </a:solidFill>
            <a:prstDash val="solid"/>
          </a:ln>
        </p:spPr>
      </p:sp>
      <p:sp>
        <p:nvSpPr>
          <p:cNvPr id="50" name="Text 48"/>
          <p:cNvSpPr/>
          <p:nvPr/>
        </p:nvSpPr>
        <p:spPr>
          <a:xfrm>
            <a:off x="9418320" y="5020056"/>
            <a:ext cx="2103120" cy="365760"/>
          </a:xfrm>
          <a:prstGeom prst="rect">
            <a:avLst/>
          </a:prstGeom>
          <a:noFill/>
          <a:ln/>
        </p:spPr>
        <p:txBody>
          <a:bodyPr wrap="square" lIns="0" tIns="0" rIns="0" bIns="0" rtlCol="0" anchor="t"/>
          <a:lstStyle/>
          <a:p>
            <a:pPr marL="0" indent="0" algn="ctr">
              <a:buNone/>
            </a:pPr>
            <a:r>
              <a:rPr lang="en-US" sz="1300" b="1" dirty="0">
                <a:solidFill>
                  <a:srgbClr val="2C5F2D"/>
                </a:solidFill>
                <a:latin typeface="Calibri" pitchFamily="34" charset="0"/>
                <a:ea typeface="Calibri" pitchFamily="34" charset="-122"/>
                <a:cs typeface="Calibri" pitchFamily="34" charset="-120"/>
              </a:rPr>
              <a:t>✓</a:t>
            </a:r>
            <a:endParaRPr lang="en-US" sz="1300" dirty="0"/>
          </a:p>
        </p:txBody>
      </p:sp>
      <p:sp>
        <p:nvSpPr>
          <p:cNvPr id="51" name="Text 49"/>
          <p:cNvSpPr/>
          <p:nvPr/>
        </p:nvSpPr>
        <p:spPr>
          <a:xfrm>
            <a:off x="640080" y="5641848"/>
            <a:ext cx="10972800" cy="457200"/>
          </a:xfrm>
          <a:prstGeom prst="rect">
            <a:avLst/>
          </a:prstGeom>
          <a:noFill/>
          <a:ln/>
        </p:spPr>
        <p:txBody>
          <a:bodyPr wrap="square" lIns="0" tIns="0" rIns="0" bIns="0" rtlCol="0" anchor="t"/>
          <a:lstStyle/>
          <a:p>
            <a:pPr marL="0" indent="0" algn="l">
              <a:buNone/>
            </a:pPr>
            <a:r>
              <a:rPr lang="en-US" sz="1300" i="1" dirty="0">
                <a:solidFill>
                  <a:srgbClr val="2C5F2D"/>
                </a:solidFill>
                <a:latin typeface="Calibri" pitchFamily="34" charset="0"/>
                <a:ea typeface="Calibri" pitchFamily="34" charset="-122"/>
                <a:cs typeface="Calibri" pitchFamily="34" charset="-120"/>
              </a:rPr>
              <a:t>SHEAF's contribution is the pair no predecessor has together: cross-commodity substitution and an endogenous restriction game.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640080" y="457200"/>
            <a:ext cx="10972800" cy="731520"/>
          </a:xfrm>
          <a:prstGeom prst="rect">
            <a:avLst/>
          </a:prstGeom>
          <a:noFill/>
          <a:ln/>
        </p:spPr>
        <p:txBody>
          <a:bodyPr wrap="square" lIns="0" tIns="0" rIns="0" bIns="0" rtlCol="0" anchor="t"/>
          <a:lstStyle/>
          <a:p>
            <a:pPr marL="0" indent="0" algn="l">
              <a:buNone/>
            </a:pPr>
            <a:r>
              <a:rPr lang="en-US" sz="3400" b="1" dirty="0">
                <a:solidFill>
                  <a:srgbClr val="2C5F2D"/>
                </a:solidFill>
                <a:latin typeface="Cambria" pitchFamily="34" charset="0"/>
                <a:ea typeface="Cambria" pitchFamily="34" charset="-122"/>
                <a:cs typeface="Cambria" pitchFamily="34" charset="-120"/>
              </a:rPr>
              <a:t>Honest limits &amp; next steps</a:t>
            </a:r>
            <a:endParaRPr lang="en-US" sz="3400" dirty="0"/>
          </a:p>
        </p:txBody>
      </p:sp>
      <p:sp>
        <p:nvSpPr>
          <p:cNvPr id="3" name="Shape 1"/>
          <p:cNvSpPr/>
          <p:nvPr/>
        </p:nvSpPr>
        <p:spPr>
          <a:xfrm>
            <a:off x="640080" y="1554480"/>
            <a:ext cx="10881360" cy="1051560"/>
          </a:xfrm>
          <a:prstGeom prst="roundRect">
            <a:avLst>
              <a:gd name="adj" fmla="val 6957"/>
            </a:avLst>
          </a:prstGeom>
          <a:solidFill>
            <a:srgbClr val="FFFFFF"/>
          </a:solidFill>
          <a:ln/>
        </p:spPr>
      </p:sp>
      <p:sp>
        <p:nvSpPr>
          <p:cNvPr id="4" name="Shape 2"/>
          <p:cNvSpPr/>
          <p:nvPr/>
        </p:nvSpPr>
        <p:spPr>
          <a:xfrm>
            <a:off x="914400" y="1847088"/>
            <a:ext cx="457200" cy="457200"/>
          </a:xfrm>
          <a:prstGeom prst="ellipse">
            <a:avLst/>
          </a:prstGeom>
          <a:solidFill>
            <a:srgbClr val="97BC62"/>
          </a:solidFill>
          <a:ln/>
        </p:spPr>
      </p:sp>
      <p:sp>
        <p:nvSpPr>
          <p:cNvPr id="5" name="Text 3"/>
          <p:cNvSpPr/>
          <p:nvPr/>
        </p:nvSpPr>
        <p:spPr>
          <a:xfrm>
            <a:off x="914400" y="1901952"/>
            <a:ext cx="457200" cy="365760"/>
          </a:xfrm>
          <a:prstGeom prst="rect">
            <a:avLst/>
          </a:prstGeom>
          <a:noFill/>
          <a:ln/>
        </p:spPr>
        <p:txBody>
          <a:bodyPr wrap="square" lIns="0" tIns="0" rIns="0" bIns="0" rtlCol="0" anchor="t"/>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6" name="Text 4"/>
          <p:cNvSpPr/>
          <p:nvPr/>
        </p:nvSpPr>
        <p:spPr>
          <a:xfrm>
            <a:off x="1645920" y="1682496"/>
            <a:ext cx="9692640" cy="365760"/>
          </a:xfrm>
          <a:prstGeom prst="rect">
            <a:avLst/>
          </a:prstGeom>
          <a:noFill/>
          <a:ln/>
        </p:spPr>
        <p:txBody>
          <a:bodyPr wrap="square" lIns="0" tIns="0" rIns="0" bIns="0" rtlCol="0" anchor="t"/>
          <a:lstStyle/>
          <a:p>
            <a:pPr marL="0" indent="0" algn="l">
              <a:buNone/>
            </a:pPr>
            <a:r>
              <a:rPr lang="en-US" sz="1600" b="1" dirty="0">
                <a:solidFill>
                  <a:srgbClr val="2C5F2D"/>
                </a:solidFill>
                <a:latin typeface="Cambria" pitchFamily="34" charset="0"/>
                <a:ea typeface="Cambria" pitchFamily="34" charset="-122"/>
                <a:cs typeface="Cambria" pitchFamily="34" charset="-120"/>
              </a:rPr>
              <a:t>Prototype calibration</a:t>
            </a:r>
            <a:endParaRPr lang="en-US" sz="1600" dirty="0"/>
          </a:p>
        </p:txBody>
      </p:sp>
      <p:sp>
        <p:nvSpPr>
          <p:cNvPr id="7" name="Text 5"/>
          <p:cNvSpPr/>
          <p:nvPr/>
        </p:nvSpPr>
        <p:spPr>
          <a:xfrm>
            <a:off x="1645920" y="2057400"/>
            <a:ext cx="9692640" cy="457200"/>
          </a:xfrm>
          <a:prstGeom prst="rect">
            <a:avLst/>
          </a:prstGeom>
          <a:noFill/>
          <a:ln/>
        </p:spPr>
        <p:txBody>
          <a:bodyPr wrap="square" lIns="0" tIns="0" rIns="0" bIns="0" rtlCol="0" anchor="t"/>
          <a:lstStyle/>
          <a:p>
            <a:pPr marL="0" indent="0" algn="l">
              <a:lnSpc>
                <a:spcPts val="1600"/>
              </a:lnSpc>
              <a:buNone/>
            </a:pPr>
            <a:r>
              <a:rPr lang="en-US" sz="1300" dirty="0">
                <a:solidFill>
                  <a:srgbClr val="5B6B57"/>
                </a:solidFill>
                <a:latin typeface="Calibri" pitchFamily="34" charset="0"/>
                <a:ea typeface="Calibri" pitchFamily="34" charset="-122"/>
                <a:cs typeface="Calibri" pitchFamily="34" charset="-120"/>
              </a:rPr>
              <a:t>Numbers are order-of-magnitude; not estimates. Swap in real per-country PSD before reading magnitudes.</a:t>
            </a:r>
            <a:endParaRPr lang="en-US" sz="1300" dirty="0"/>
          </a:p>
        </p:txBody>
      </p:sp>
      <p:sp>
        <p:nvSpPr>
          <p:cNvPr id="8" name="Shape 6"/>
          <p:cNvSpPr/>
          <p:nvPr/>
        </p:nvSpPr>
        <p:spPr>
          <a:xfrm>
            <a:off x="640080" y="2724912"/>
            <a:ext cx="10881360" cy="1051560"/>
          </a:xfrm>
          <a:prstGeom prst="roundRect">
            <a:avLst>
              <a:gd name="adj" fmla="val 6957"/>
            </a:avLst>
          </a:prstGeom>
          <a:solidFill>
            <a:srgbClr val="FFFFFF"/>
          </a:solidFill>
          <a:ln/>
        </p:spPr>
      </p:sp>
      <p:sp>
        <p:nvSpPr>
          <p:cNvPr id="9" name="Shape 7"/>
          <p:cNvSpPr/>
          <p:nvPr/>
        </p:nvSpPr>
        <p:spPr>
          <a:xfrm>
            <a:off x="914400" y="3017520"/>
            <a:ext cx="457200" cy="457200"/>
          </a:xfrm>
          <a:prstGeom prst="ellipse">
            <a:avLst/>
          </a:prstGeom>
          <a:solidFill>
            <a:srgbClr val="D8A72A"/>
          </a:solidFill>
          <a:ln/>
        </p:spPr>
      </p:sp>
      <p:sp>
        <p:nvSpPr>
          <p:cNvPr id="10" name="Text 8"/>
          <p:cNvSpPr/>
          <p:nvPr/>
        </p:nvSpPr>
        <p:spPr>
          <a:xfrm>
            <a:off x="914400" y="3072384"/>
            <a:ext cx="457200" cy="365760"/>
          </a:xfrm>
          <a:prstGeom prst="rect">
            <a:avLst/>
          </a:prstGeom>
          <a:noFill/>
          <a:ln/>
        </p:spPr>
        <p:txBody>
          <a:bodyPr wrap="square" lIns="0" tIns="0" rIns="0" bIns="0" rtlCol="0" anchor="t"/>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1" name="Text 9"/>
          <p:cNvSpPr/>
          <p:nvPr/>
        </p:nvSpPr>
        <p:spPr>
          <a:xfrm>
            <a:off x="1645920" y="2852928"/>
            <a:ext cx="9692640" cy="365760"/>
          </a:xfrm>
          <a:prstGeom prst="rect">
            <a:avLst/>
          </a:prstGeom>
          <a:noFill/>
          <a:ln/>
        </p:spPr>
        <p:txBody>
          <a:bodyPr wrap="square" lIns="0" tIns="0" rIns="0" bIns="0" rtlCol="0" anchor="t"/>
          <a:lstStyle/>
          <a:p>
            <a:pPr marL="0" indent="0" algn="l">
              <a:buNone/>
            </a:pPr>
            <a:r>
              <a:rPr lang="en-US" sz="1600" b="1" dirty="0">
                <a:solidFill>
                  <a:srgbClr val="2C5F2D"/>
                </a:solidFill>
                <a:latin typeface="Cambria" pitchFamily="34" charset="0"/>
                <a:ea typeface="Cambria" pitchFamily="34" charset="-122"/>
                <a:cs typeface="Cambria" pitchFamily="34" charset="-120"/>
              </a:rPr>
              <a:t>Annual equilibrium</a:t>
            </a:r>
            <a:endParaRPr lang="en-US" sz="1600" dirty="0"/>
          </a:p>
        </p:txBody>
      </p:sp>
      <p:sp>
        <p:nvSpPr>
          <p:cNvPr id="12" name="Text 10"/>
          <p:cNvSpPr/>
          <p:nvPr/>
        </p:nvSpPr>
        <p:spPr>
          <a:xfrm>
            <a:off x="1645920" y="3227832"/>
            <a:ext cx="9692640" cy="457200"/>
          </a:xfrm>
          <a:prstGeom prst="rect">
            <a:avLst/>
          </a:prstGeom>
          <a:noFill/>
          <a:ln/>
        </p:spPr>
        <p:txBody>
          <a:bodyPr wrap="square" lIns="0" tIns="0" rIns="0" bIns="0" rtlCol="0" anchor="t"/>
          <a:lstStyle/>
          <a:p>
            <a:pPr marL="0" indent="0" algn="l">
              <a:lnSpc>
                <a:spcPts val="1600"/>
              </a:lnSpc>
              <a:buNone/>
            </a:pPr>
            <a:r>
              <a:rPr lang="en-US" sz="1300" dirty="0">
                <a:solidFill>
                  <a:srgbClr val="5B6B57"/>
                </a:solidFill>
                <a:latin typeface="Calibri" pitchFamily="34" charset="0"/>
                <a:ea typeface="Calibri" pitchFamily="34" charset="-122"/>
                <a:cs typeface="Calibri" pitchFamily="34" charset="-120"/>
              </a:rPr>
              <a:t>Not Agrimate's bi-weekly out-of-equilibrium rationing. SHEAF competes on substitution + endogeneity, not temporal resolution.</a:t>
            </a:r>
            <a:endParaRPr lang="en-US" sz="1300" dirty="0"/>
          </a:p>
        </p:txBody>
      </p:sp>
      <p:sp>
        <p:nvSpPr>
          <p:cNvPr id="13" name="Shape 11"/>
          <p:cNvSpPr/>
          <p:nvPr/>
        </p:nvSpPr>
        <p:spPr>
          <a:xfrm>
            <a:off x="640080" y="3895344"/>
            <a:ext cx="10881360" cy="1051560"/>
          </a:xfrm>
          <a:prstGeom prst="roundRect">
            <a:avLst>
              <a:gd name="adj" fmla="val 6957"/>
            </a:avLst>
          </a:prstGeom>
          <a:solidFill>
            <a:srgbClr val="FFFFFF"/>
          </a:solidFill>
          <a:ln/>
        </p:spPr>
      </p:sp>
      <p:sp>
        <p:nvSpPr>
          <p:cNvPr id="14" name="Shape 12"/>
          <p:cNvSpPr/>
          <p:nvPr/>
        </p:nvSpPr>
        <p:spPr>
          <a:xfrm>
            <a:off x="914400" y="4187952"/>
            <a:ext cx="457200" cy="457200"/>
          </a:xfrm>
          <a:prstGeom prst="ellipse">
            <a:avLst/>
          </a:prstGeom>
          <a:solidFill>
            <a:srgbClr val="E0871E"/>
          </a:solidFill>
          <a:ln/>
        </p:spPr>
      </p:sp>
      <p:sp>
        <p:nvSpPr>
          <p:cNvPr id="15" name="Text 13"/>
          <p:cNvSpPr/>
          <p:nvPr/>
        </p:nvSpPr>
        <p:spPr>
          <a:xfrm>
            <a:off x="914400" y="4242816"/>
            <a:ext cx="457200" cy="365760"/>
          </a:xfrm>
          <a:prstGeom prst="rect">
            <a:avLst/>
          </a:prstGeom>
          <a:noFill/>
          <a:ln/>
        </p:spPr>
        <p:txBody>
          <a:bodyPr wrap="square" lIns="0" tIns="0" rIns="0" bIns="0" rtlCol="0" anchor="t"/>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6" name="Text 14"/>
          <p:cNvSpPr/>
          <p:nvPr/>
        </p:nvSpPr>
        <p:spPr>
          <a:xfrm>
            <a:off x="1645920" y="4023360"/>
            <a:ext cx="9692640" cy="365760"/>
          </a:xfrm>
          <a:prstGeom prst="rect">
            <a:avLst/>
          </a:prstGeom>
          <a:noFill/>
          <a:ln/>
        </p:spPr>
        <p:txBody>
          <a:bodyPr wrap="square" lIns="0" tIns="0" rIns="0" bIns="0" rtlCol="0" anchor="t"/>
          <a:lstStyle/>
          <a:p>
            <a:pPr marL="0" indent="0" algn="l">
              <a:buNone/>
            </a:pPr>
            <a:r>
              <a:rPr lang="en-US" sz="1600" b="1" dirty="0">
                <a:solidFill>
                  <a:srgbClr val="2C5F2D"/>
                </a:solidFill>
                <a:latin typeface="Cambria" pitchFamily="34" charset="0"/>
                <a:ea typeface="Cambria" pitchFamily="34" charset="-122"/>
                <a:cs typeface="Cambria" pitchFamily="34" charset="-120"/>
              </a:rPr>
              <a:t>Approximate Nash</a:t>
            </a:r>
            <a:endParaRPr lang="en-US" sz="1600" dirty="0"/>
          </a:p>
        </p:txBody>
      </p:sp>
      <p:sp>
        <p:nvSpPr>
          <p:cNvPr id="17" name="Text 15"/>
          <p:cNvSpPr/>
          <p:nvPr/>
        </p:nvSpPr>
        <p:spPr>
          <a:xfrm>
            <a:off x="1645920" y="4398264"/>
            <a:ext cx="9692640" cy="457200"/>
          </a:xfrm>
          <a:prstGeom prst="rect">
            <a:avLst/>
          </a:prstGeom>
          <a:noFill/>
          <a:ln/>
        </p:spPr>
        <p:txBody>
          <a:bodyPr wrap="square" lIns="0" tIns="0" rIns="0" bIns="0" rtlCol="0" anchor="t"/>
          <a:lstStyle/>
          <a:p>
            <a:pPr marL="0" indent="0" algn="l">
              <a:lnSpc>
                <a:spcPts val="1600"/>
              </a:lnSpc>
              <a:buNone/>
            </a:pPr>
            <a:r>
              <a:rPr lang="en-US" sz="1300" dirty="0">
                <a:solidFill>
                  <a:srgbClr val="5B6B57"/>
                </a:solidFill>
                <a:latin typeface="Calibri" pitchFamily="34" charset="0"/>
                <a:ea typeface="Calibri" pitchFamily="34" charset="-122"/>
                <a:cs typeface="Calibri" pitchFamily="34" charset="-120"/>
              </a:rPr>
              <a:t>Iterated best response on a coarse τ grid; welfare is non-concave in τ. Standard for policy games.</a:t>
            </a:r>
            <a:endParaRPr lang="en-US" sz="1300" dirty="0"/>
          </a:p>
        </p:txBody>
      </p:sp>
      <p:sp>
        <p:nvSpPr>
          <p:cNvPr id="18" name="Shape 16"/>
          <p:cNvSpPr/>
          <p:nvPr/>
        </p:nvSpPr>
        <p:spPr>
          <a:xfrm>
            <a:off x="640080" y="5065776"/>
            <a:ext cx="10881360" cy="1051560"/>
          </a:xfrm>
          <a:prstGeom prst="roundRect">
            <a:avLst>
              <a:gd name="adj" fmla="val 6957"/>
            </a:avLst>
          </a:prstGeom>
          <a:solidFill>
            <a:srgbClr val="FFFFFF"/>
          </a:solidFill>
          <a:ln/>
        </p:spPr>
      </p:sp>
      <p:sp>
        <p:nvSpPr>
          <p:cNvPr id="19" name="Shape 17"/>
          <p:cNvSpPr/>
          <p:nvPr/>
        </p:nvSpPr>
        <p:spPr>
          <a:xfrm>
            <a:off x="914400" y="5358384"/>
            <a:ext cx="457200" cy="457200"/>
          </a:xfrm>
          <a:prstGeom prst="ellipse">
            <a:avLst/>
          </a:prstGeom>
          <a:solidFill>
            <a:srgbClr val="5E9E5A"/>
          </a:solidFill>
          <a:ln/>
        </p:spPr>
      </p:sp>
      <p:sp>
        <p:nvSpPr>
          <p:cNvPr id="20" name="Text 18"/>
          <p:cNvSpPr/>
          <p:nvPr/>
        </p:nvSpPr>
        <p:spPr>
          <a:xfrm>
            <a:off x="914400" y="5413248"/>
            <a:ext cx="457200" cy="365760"/>
          </a:xfrm>
          <a:prstGeom prst="rect">
            <a:avLst/>
          </a:prstGeom>
          <a:noFill/>
          <a:ln/>
        </p:spPr>
        <p:txBody>
          <a:bodyPr wrap="square" lIns="0" tIns="0" rIns="0" bIns="0" rtlCol="0" anchor="t"/>
          <a:lstStyle/>
          <a:p>
            <a:pPr marL="0" indent="0" algn="ctr">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1" name="Text 19"/>
          <p:cNvSpPr/>
          <p:nvPr/>
        </p:nvSpPr>
        <p:spPr>
          <a:xfrm>
            <a:off x="1645920" y="5193792"/>
            <a:ext cx="9692640" cy="365760"/>
          </a:xfrm>
          <a:prstGeom prst="rect">
            <a:avLst/>
          </a:prstGeom>
          <a:noFill/>
          <a:ln/>
        </p:spPr>
        <p:txBody>
          <a:bodyPr wrap="square" lIns="0" tIns="0" rIns="0" bIns="0" rtlCol="0" anchor="t"/>
          <a:lstStyle/>
          <a:p>
            <a:pPr marL="0" indent="0" algn="l">
              <a:buNone/>
            </a:pPr>
            <a:r>
              <a:rPr lang="en-US" sz="1600" b="1" dirty="0">
                <a:solidFill>
                  <a:srgbClr val="2C5F2D"/>
                </a:solidFill>
                <a:latin typeface="Cambria" pitchFamily="34" charset="0"/>
                <a:ea typeface="Cambria" pitchFamily="34" charset="-122"/>
                <a:cs typeface="Cambria" pitchFamily="34" charset="-120"/>
              </a:rPr>
              <a:t>Firms idealised</a:t>
            </a:r>
            <a:endParaRPr lang="en-US" sz="1600" dirty="0"/>
          </a:p>
        </p:txBody>
      </p:sp>
      <p:sp>
        <p:nvSpPr>
          <p:cNvPr id="22" name="Text 20"/>
          <p:cNvSpPr/>
          <p:nvPr/>
        </p:nvSpPr>
        <p:spPr>
          <a:xfrm>
            <a:off x="1645920" y="5568696"/>
            <a:ext cx="9692640" cy="457200"/>
          </a:xfrm>
          <a:prstGeom prst="rect">
            <a:avLst/>
          </a:prstGeom>
          <a:noFill/>
          <a:ln/>
        </p:spPr>
        <p:txBody>
          <a:bodyPr wrap="square" lIns="0" tIns="0" rIns="0" bIns="0" rtlCol="0" anchor="t"/>
          <a:lstStyle/>
          <a:p>
            <a:pPr marL="0" indent="0" algn="l">
              <a:lnSpc>
                <a:spcPts val="1600"/>
              </a:lnSpc>
              <a:buNone/>
            </a:pPr>
            <a:r>
              <a:rPr lang="en-US" sz="1300" dirty="0">
                <a:solidFill>
                  <a:srgbClr val="5B6B57"/>
                </a:solidFill>
                <a:latin typeface="Calibri" pitchFamily="34" charset="0"/>
                <a:ea typeface="Calibri" pitchFamily="34" charset="-122"/>
                <a:cs typeface="Calibri" pitchFamily="34" charset="-120"/>
              </a:rPr>
              <a:t>Competitive traders only; oligopolistic stockholding is a natural third agent class for future work.</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3A22"/>
        </a:solidFill>
        <a:effectLst/>
      </p:bgPr>
    </p:bg>
    <p:spTree>
      <p:nvGrpSpPr>
        <p:cNvPr id="1" name=""/>
        <p:cNvGrpSpPr/>
        <p:nvPr/>
      </p:nvGrpSpPr>
      <p:grpSpPr>
        <a:xfrm>
          <a:off x="0" y="0"/>
          <a:ext cx="0" cy="0"/>
          <a:chOff x="0" y="0"/>
          <a:chExt cx="0" cy="0"/>
        </a:xfrm>
      </p:grpSpPr>
      <p:sp>
        <p:nvSpPr>
          <p:cNvPr id="2" name="Shape 0"/>
          <p:cNvSpPr/>
          <p:nvPr/>
        </p:nvSpPr>
        <p:spPr>
          <a:xfrm>
            <a:off x="4937760" y="594360"/>
            <a:ext cx="2286000" cy="2286000"/>
          </a:xfrm>
          <a:prstGeom prst="roundRect">
            <a:avLst>
              <a:gd name="adj" fmla="val 6400"/>
            </a:avLst>
          </a:prstGeom>
          <a:solidFill>
            <a:srgbClr val="FFFFFF"/>
          </a:solidFill>
          <a:ln/>
        </p:spPr>
      </p:sp>
      <p:sp>
        <p:nvSpPr>
          <p:cNvPr id="4" name="Text 1"/>
          <p:cNvSpPr/>
          <p:nvPr/>
        </p:nvSpPr>
        <p:spPr>
          <a:xfrm>
            <a:off x="640080" y="2834640"/>
            <a:ext cx="10972800" cy="731520"/>
          </a:xfrm>
          <a:prstGeom prst="rect">
            <a:avLst/>
          </a:prstGeom>
          <a:noFill/>
          <a:ln/>
        </p:spPr>
        <p:txBody>
          <a:bodyPr wrap="square" lIns="0" tIns="0" rIns="0" bIns="0" rtlCol="0" anchor="t"/>
          <a:lstStyle/>
          <a:p>
            <a:pPr marL="0" indent="0" algn="ctr">
              <a:buNone/>
            </a:pPr>
            <a:r>
              <a:rPr lang="en-US" sz="4000" b="1" dirty="0">
                <a:solidFill>
                  <a:srgbClr val="F7F5EF"/>
                </a:solidFill>
                <a:latin typeface="Cambria" pitchFamily="34" charset="0"/>
                <a:ea typeface="Cambria" pitchFamily="34" charset="-122"/>
                <a:cs typeface="Cambria" pitchFamily="34" charset="-120"/>
              </a:rPr>
              <a:t>SHEAF</a:t>
            </a:r>
            <a:endParaRPr lang="en-US" sz="4000" dirty="0"/>
          </a:p>
        </p:txBody>
      </p:sp>
      <p:sp>
        <p:nvSpPr>
          <p:cNvPr id="5" name="Text 2"/>
          <p:cNvSpPr/>
          <p:nvPr/>
        </p:nvSpPr>
        <p:spPr>
          <a:xfrm>
            <a:off x="640080" y="3611880"/>
            <a:ext cx="10972800" cy="457200"/>
          </a:xfrm>
          <a:prstGeom prst="rect">
            <a:avLst/>
          </a:prstGeom>
          <a:noFill/>
          <a:ln/>
        </p:spPr>
        <p:txBody>
          <a:bodyPr wrap="square" lIns="0" tIns="0" rIns="0" bIns="0" rtlCol="0" anchor="t"/>
          <a:lstStyle/>
          <a:p>
            <a:pPr marL="0" indent="0" algn="ctr">
              <a:buNone/>
            </a:pPr>
            <a:r>
              <a:rPr lang="en-US" dirty="0">
                <a:solidFill>
                  <a:srgbClr val="97BC62"/>
                </a:solidFill>
                <a:latin typeface="Calibri" pitchFamily="34" charset="0"/>
                <a:ea typeface="Calibri" pitchFamily="34" charset="-122"/>
                <a:cs typeface="Calibri" pitchFamily="34" charset="-120"/>
              </a:rPr>
              <a:t>Substitution · Heterogeneous agents · Equilibrium · And Fragility</a:t>
            </a:r>
            <a:endParaRPr lang="en-US" dirty="0"/>
          </a:p>
        </p:txBody>
      </p:sp>
      <p:sp>
        <p:nvSpPr>
          <p:cNvPr id="6" name="Text 3"/>
          <p:cNvSpPr/>
          <p:nvPr/>
        </p:nvSpPr>
        <p:spPr>
          <a:xfrm>
            <a:off x="1371600" y="4389120"/>
            <a:ext cx="9418320" cy="822960"/>
          </a:xfrm>
          <a:prstGeom prst="rect">
            <a:avLst/>
          </a:prstGeom>
          <a:noFill/>
          <a:ln/>
        </p:spPr>
        <p:txBody>
          <a:bodyPr wrap="square" lIns="0" tIns="0" rIns="0" bIns="0" rtlCol="0" anchor="t"/>
          <a:lstStyle/>
          <a:p>
            <a:pPr marL="0" indent="0" algn="ctr">
              <a:lnSpc>
                <a:spcPts val="1800"/>
              </a:lnSpc>
              <a:buNone/>
            </a:pPr>
            <a:r>
              <a:rPr lang="en-US" i="1" dirty="0">
                <a:solidFill>
                  <a:srgbClr val="F7F5EF"/>
                </a:solidFill>
                <a:latin typeface="Calibri" pitchFamily="34" charset="0"/>
                <a:ea typeface="Calibri" pitchFamily="34" charset="-122"/>
                <a:cs typeface="Calibri" pitchFamily="34" charset="-120"/>
              </a:rPr>
              <a:t>A spatial trade network + cross-commodity substitution + an endogenous export-restriction game, validated against the 2007/08 and 2010/11 crises.</a:t>
            </a:r>
            <a:endParaRPr lang="en-US" dirty="0"/>
          </a:p>
        </p:txBody>
      </p:sp>
      <p:sp>
        <p:nvSpPr>
          <p:cNvPr id="7" name="Text 4"/>
          <p:cNvSpPr/>
          <p:nvPr/>
        </p:nvSpPr>
        <p:spPr>
          <a:xfrm>
            <a:off x="640080" y="5486400"/>
            <a:ext cx="10972800" cy="365760"/>
          </a:xfrm>
          <a:prstGeom prst="rect">
            <a:avLst/>
          </a:prstGeom>
          <a:noFill/>
          <a:ln/>
        </p:spPr>
        <p:txBody>
          <a:bodyPr wrap="square" lIns="0" tIns="0" rIns="0" bIns="0" rtlCol="0" anchor="t"/>
          <a:lstStyle/>
          <a:p>
            <a:pPr marL="0" indent="0" algn="ctr">
              <a:buNone/>
            </a:pPr>
            <a:r>
              <a:rPr lang="en-US" sz="1600" dirty="0">
                <a:solidFill>
                  <a:srgbClr val="97BC62"/>
                </a:solidFill>
                <a:latin typeface="Calibri" pitchFamily="34" charset="0"/>
                <a:ea typeface="Calibri" pitchFamily="34" charset="-122"/>
                <a:cs typeface="Calibri" pitchFamily="34" charset="-120"/>
              </a:rPr>
              <a:t>github.com/mjpuma/sheaf-model   ·   full formulation &amp; references in README.md</a:t>
            </a:r>
            <a:endParaRPr lang="en-US" sz="1600" dirty="0"/>
          </a:p>
        </p:txBody>
      </p:sp>
      <p:pic>
        <p:nvPicPr>
          <p:cNvPr id="10" name="Picture 9">
            <a:extLst>
              <a:ext uri="{FF2B5EF4-FFF2-40B4-BE49-F238E27FC236}">
                <a16:creationId xmlns:a16="http://schemas.microsoft.com/office/drawing/2014/main" id="{78FA8ABB-FC8E-724F-B548-6472AE71EE58}"/>
              </a:ext>
            </a:extLst>
          </p:cNvPr>
          <p:cNvPicPr>
            <a:picLocks noChangeAspect="1"/>
          </p:cNvPicPr>
          <p:nvPr/>
        </p:nvPicPr>
        <p:blipFill>
          <a:blip r:embed="rId3"/>
          <a:stretch>
            <a:fillRect/>
          </a:stretch>
        </p:blipFill>
        <p:spPr>
          <a:xfrm>
            <a:off x="5069673" y="726273"/>
            <a:ext cx="2022173" cy="202217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1614</Words>
  <Application>Microsoft Macintosh PowerPoint</Application>
  <PresentationFormat>Widescreen</PresentationFormat>
  <Paragraphs>168</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Michael Puma</cp:lastModifiedBy>
  <cp:revision>3</cp:revision>
  <dcterms:created xsi:type="dcterms:W3CDTF">2026-08-08T00:16:49Z</dcterms:created>
  <dcterms:modified xsi:type="dcterms:W3CDTF">2026-08-08T00:37:47Z</dcterms:modified>
</cp:coreProperties>
</file>